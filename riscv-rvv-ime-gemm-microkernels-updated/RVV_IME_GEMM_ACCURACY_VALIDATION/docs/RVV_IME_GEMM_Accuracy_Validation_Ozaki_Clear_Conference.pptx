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08111-B2EA-C8BB-E13A-94407B34C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71255-F5F9-2803-BB20-FDBF9313C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E1DDC-B353-D975-92C0-C7DD880C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1EBE9-BB83-BCF2-00A8-CCCE1DBF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314C8-1DE2-4013-8973-76C5DECF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31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E386-46F3-FC45-462C-79B80558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E978B-E7A4-D012-1C8C-AAFA7D9F2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DF279-5DC3-881B-AE80-3C2C70B9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BF937-6EB7-C78D-C016-2BB864FE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C3E27-D332-6C41-E217-A70D52FF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2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82F2-FE01-E770-B875-FF618F696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09AE0-776D-98B0-B9D1-001964367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EA036-8C9F-59E7-DE1A-807E92B5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7325B-B173-7EFB-85D9-D29BA034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0FB66-1ECC-BC49-8811-19CCA1FB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9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72FB-D302-B7C9-8EC5-1374D850C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5D6E5-825A-EABC-B8DC-DD47A72BE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4134A-890C-6E46-BF95-51EA0B04E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98CC4-3B83-6B31-785B-B936C44F6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C8158-939B-6BD7-4F5F-6055D985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FD818-E468-D2AF-D138-C6927988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0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30D4-045C-E757-21C6-D9AEEBC6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17E4C-9463-0863-5AB1-DC934CD88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69D95-44D5-E70B-1CC4-51F8CD1ED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7E7FC-893C-61A3-4467-B44666BE0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6D7E5-521D-7BBD-CF21-6D49A4E42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09D23-818D-8011-A236-F039B766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9C93F-80A8-F0A4-F4AE-E3BF59A9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237347-796B-92BB-C3C6-3F1C1A59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6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7F63-45B1-9EA9-8A46-7C5B7543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34FF8-5CD7-31B3-A416-03C0912C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1BB88-2C36-6CBE-FAA1-00DC113E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6416E-5D5E-C00B-435C-C92C77FC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8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B605D-D5FF-BF66-1797-38F25831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2B1AF-6791-6B29-C9CE-3A7D026C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5FF7E-BF48-AF97-C502-234E6A4F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9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2F6B-C03B-306B-F2C7-E8BB08F0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DDE9-7F33-A4C5-3DF0-70357AAE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D57E9-C847-B7D6-B9BD-355A0A982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18ACC-43B6-8DFC-4400-026FD540B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622AA-C124-707B-455F-CC4C206A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9931F-1151-2F75-6FCB-E1D658B0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7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A495-CE8F-9905-2737-63BAEC37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B828A-D58B-1F74-1429-E6FF58567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BEFE4-ED46-73F4-CA2E-95C90FE10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024DE-346F-C47C-0984-C1DC57CD5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74D42-513E-C229-C5F3-23ACB5F0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505B-C734-A13B-E3FE-6CA21A024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6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1A7A-89D1-6099-C85A-F2D75F3F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58C6F-5627-F563-B885-4C70DE381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5F834-1FFE-39E9-4BF2-912E4C5B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25EF-EAAC-40EB-55C2-18DA059C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A1061-E37D-052A-1F9D-54000D4A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1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728F29-34E4-104B-EB43-E3412E3AF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3F0CE-93BC-C7E8-A361-88C9DF2E6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1BA55-9A26-17D6-02AE-EB27FE79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A293D-95CE-B739-2A6D-72D55D5E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D76D2-5A0E-3D1E-41AC-4C126486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5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81AB7D-8CC3-B8AC-DF33-86F7B4B3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69EA8-4CBE-27F5-055C-19B17FDC4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C0FBD-EBB3-54DE-D3E2-AD423BA30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BA049-5080-4150-A6B7-E60AE9F10F0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4DD26-07A1-CFF3-357F-0C50BBBDB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3E628-89B2-05DF-85E0-40D8F5089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1322C-40EC-4C66-9D92-11866D60C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0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E7435C-A71D-50E4-134E-785FC82B7752}"/>
              </a:ext>
            </a:extLst>
          </p:cNvPr>
          <p:cNvSpPr txBox="1"/>
          <p:nvPr/>
        </p:nvSpPr>
        <p:spPr>
          <a:xfrm>
            <a:off x="711200" y="4318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007E84"/>
                </a:solidFill>
                <a:latin typeface="Aptos" panose="020B0004020202020204" pitchFamily="34" charset="0"/>
              </a:rPr>
              <a:t>RISC-V K1  |  INT8 GEMM  |  VLEN = 256 bits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19DCC-FEE4-82B0-652F-8F728720D68E}"/>
              </a:ext>
            </a:extLst>
          </p:cNvPr>
          <p:cNvSpPr txBox="1"/>
          <p:nvPr/>
        </p:nvSpPr>
        <p:spPr>
          <a:xfrm>
            <a:off x="711200" y="990600"/>
            <a:ext cx="1016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400" b="1">
                <a:solidFill>
                  <a:srgbClr val="112A43"/>
                </a:solidFill>
                <a:latin typeface="Aptos Display" panose="020B0004020202020204" pitchFamily="34" charset="0"/>
              </a:rPr>
              <a:t>Accuracy Equivalence of IME and RVV GEMM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AB91E7-5073-740F-284F-0F0891F95847}"/>
              </a:ext>
            </a:extLst>
          </p:cNvPr>
          <p:cNvSpPr txBox="1"/>
          <p:nvPr/>
        </p:nvSpPr>
        <p:spPr>
          <a:xfrm>
            <a:off x="711200" y="2070100"/>
            <a:ext cx="10160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00">
                <a:solidFill>
                  <a:srgbClr val="5C6975"/>
                </a:solidFill>
                <a:latin typeface="Aptos" panose="020B0004020202020204" pitchFamily="34" charset="0"/>
              </a:rPr>
              <a:t>How we prove that the IME and RVV integer kernels produce the same matrix answer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59E24C-5C25-D90F-3213-ACE044B8794D}"/>
              </a:ext>
            </a:extLst>
          </p:cNvPr>
          <p:cNvSpPr/>
          <p:nvPr/>
        </p:nvSpPr>
        <p:spPr>
          <a:xfrm>
            <a:off x="711200" y="2921000"/>
            <a:ext cx="10769600" cy="2260600"/>
          </a:xfrm>
          <a:prstGeom prst="roundRect">
            <a:avLst/>
          </a:prstGeom>
          <a:solidFill>
            <a:srgbClr val="EEF5FA"/>
          </a:solidFill>
          <a:ln w="10160">
            <a:solidFill>
              <a:srgbClr val="005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BD56B-ADD2-F41B-B9F3-D67FC3BD9BDB}"/>
              </a:ext>
            </a:extLst>
          </p:cNvPr>
          <p:cNvSpPr txBox="1"/>
          <p:nvPr/>
        </p:nvSpPr>
        <p:spPr>
          <a:xfrm>
            <a:off x="1016000" y="31877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005C99"/>
                </a:solidFill>
                <a:latin typeface="Aptos" panose="020B0004020202020204" pitchFamily="34" charset="0"/>
              </a:rPr>
              <a:t>WHAT MUST BE 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3229C-E8A9-EC61-1A79-D8D2AC6276C3}"/>
              </a:ext>
            </a:extLst>
          </p:cNvPr>
          <p:cNvSpPr txBox="1"/>
          <p:nvPr/>
        </p:nvSpPr>
        <p:spPr>
          <a:xfrm>
            <a:off x="1016000" y="35814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2700" b="1">
                <a:solidFill>
                  <a:srgbClr val="112A43"/>
                </a:solidFill>
                <a:latin typeface="Cambria Math" panose="02040503050406030204" pitchFamily="18" charset="0"/>
              </a:rPr>
              <a:t>IME answer = RVV answer = trusted answer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51A5A-954E-6268-B27B-D7BD0DB79BC6}"/>
              </a:ext>
            </a:extLst>
          </p:cNvPr>
          <p:cNvSpPr txBox="1"/>
          <p:nvPr/>
        </p:nvSpPr>
        <p:spPr>
          <a:xfrm>
            <a:off x="1397000" y="4203700"/>
            <a:ext cx="93980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50">
                <a:solidFill>
                  <a:srgbClr val="5C6975"/>
                </a:solidFill>
                <a:latin typeface="Aptos" panose="020B0004020202020204" pitchFamily="34" charset="0"/>
              </a:rPr>
              <a:t>Trusted answer means the same matrix multiplication computed independently with larger INT64 numbers.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433C3-9809-35FC-E0CB-8C0C571CBFE6}"/>
              </a:ext>
            </a:extLst>
          </p:cNvPr>
          <p:cNvSpPr txBox="1"/>
          <p:nvPr/>
        </p:nvSpPr>
        <p:spPr>
          <a:xfrm>
            <a:off x="1016000" y="4711700"/>
            <a:ext cx="10160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20272E"/>
                </a:solidFill>
                <a:latin typeface="Aptos" panose="020B0004020202020204" pitchFamily="34" charset="0"/>
              </a:rPr>
              <a:t>All 1,048,576 output values must match exactly; one wrong value means the test fails.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A0C15-2267-064B-665C-7886D3ADE5E2}"/>
              </a:ext>
            </a:extLst>
          </p:cNvPr>
          <p:cNvSpPr txBox="1"/>
          <p:nvPr/>
        </p:nvSpPr>
        <p:spPr>
          <a:xfrm>
            <a:off x="711200" y="6108700"/>
            <a:ext cx="107696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50">
                <a:solidFill>
                  <a:srgbClr val="5C6975"/>
                </a:solidFill>
                <a:latin typeface="Aptos" panose="020B0004020202020204" pitchFamily="34" charset="0"/>
              </a:rPr>
              <a:t>Methodological basis: Ozaki, Uchino, and Imamura, Ozaki Scheme II, arXiv:2504.08009.</a:t>
            </a:r>
          </a:p>
        </p:txBody>
      </p:sp>
    </p:spTree>
    <p:extLst>
      <p:ext uri="{BB962C8B-B14F-4D97-AF65-F5344CB8AC3E}">
        <p14:creationId xmlns:p14="http://schemas.microsoft.com/office/powerpoint/2010/main" val="195934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B156B-BA49-8B6E-8F89-ABD9349E6F13}"/>
              </a:ext>
            </a:extLst>
          </p:cNvPr>
          <p:cNvSpPr txBox="1"/>
          <p:nvPr/>
        </p:nvSpPr>
        <p:spPr>
          <a:xfrm>
            <a:off x="609600" y="2794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007E84"/>
                </a:solidFill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85FAC-EFEE-9C5B-3BB2-697FF90E072D}"/>
              </a:ext>
            </a:extLst>
          </p:cNvPr>
          <p:cNvSpPr txBox="1"/>
          <p:nvPr/>
        </p:nvSpPr>
        <p:spPr>
          <a:xfrm>
            <a:off x="609600" y="609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12A43"/>
                </a:solidFill>
                <a:latin typeface="Aptos Display" panose="020B0004020202020204" pitchFamily="34" charset="0"/>
              </a:rPr>
              <a:t>How the Ozaki Idea Guides This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48A9D-10A5-3A7D-41E5-2B02D3A8A4D3}"/>
              </a:ext>
            </a:extLst>
          </p:cNvPr>
          <p:cNvSpPr txBox="1"/>
          <p:nvPr/>
        </p:nvSpPr>
        <p:spPr>
          <a:xfrm>
            <a:off x="609600" y="11811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5C6975"/>
                </a:solidFill>
                <a:latin typeface="Aptos" panose="020B0004020202020204" pitchFamily="34" charset="0"/>
              </a:rPr>
              <a:t>The paper motivates low-precision GEMM error measurement; our experiment applies that reasoning to two integer kernels.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FCACDD-8497-E4F7-70E8-25B327874DA0}"/>
              </a:ext>
            </a:extLst>
          </p:cNvPr>
          <p:cNvCxnSpPr/>
          <p:nvPr/>
        </p:nvCxnSpPr>
        <p:spPr>
          <a:xfrm>
            <a:off x="609600" y="1574800"/>
            <a:ext cx="10972800" cy="0"/>
          </a:xfrm>
          <a:prstGeom prst="line">
            <a:avLst/>
          </a:prstGeom>
          <a:ln w="1270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2E51478-AEF9-5DCB-3E21-5B21B08B32B4}"/>
              </a:ext>
            </a:extLst>
          </p:cNvPr>
          <p:cNvSpPr txBox="1"/>
          <p:nvPr/>
        </p:nvSpPr>
        <p:spPr>
          <a:xfrm>
            <a:off x="11277600" y="292100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387B3B-0462-9394-1F4F-67FC644BFBDC}"/>
              </a:ext>
            </a:extLst>
          </p:cNvPr>
          <p:cNvSpPr/>
          <p:nvPr/>
        </p:nvSpPr>
        <p:spPr>
          <a:xfrm>
            <a:off x="609600" y="1879600"/>
            <a:ext cx="4902200" cy="3111500"/>
          </a:xfrm>
          <a:prstGeom prst="roundRect">
            <a:avLst/>
          </a:prstGeom>
          <a:solidFill>
            <a:srgbClr val="FDF4ED"/>
          </a:solidFill>
          <a:ln w="10160">
            <a:solidFill>
              <a:srgbClr val="D368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34C64-9331-8977-51CC-40B09A314690}"/>
              </a:ext>
            </a:extLst>
          </p:cNvPr>
          <p:cNvSpPr txBox="1"/>
          <p:nvPr/>
        </p:nvSpPr>
        <p:spPr>
          <a:xfrm>
            <a:off x="889000" y="21336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D36829"/>
                </a:solidFill>
                <a:latin typeface="Aptos" panose="020B0004020202020204" pitchFamily="34" charset="0"/>
              </a:rPr>
              <a:t>WHAT OZAKI DOES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9233E-AED5-38CD-523E-D703D90405C2}"/>
              </a:ext>
            </a:extLst>
          </p:cNvPr>
          <p:cNvSpPr txBox="1"/>
          <p:nvPr/>
        </p:nvSpPr>
        <p:spPr>
          <a:xfrm>
            <a:off x="889000" y="2540000"/>
            <a:ext cx="4191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12A43"/>
                </a:solidFill>
                <a:latin typeface="Aptos Display" panose="020B0004020202020204" pitchFamily="34" charset="0"/>
              </a:rPr>
              <a:t>Build accuracy from small parts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49C859-04AC-67F0-B024-7E62AC3284B4}"/>
              </a:ext>
            </a:extLst>
          </p:cNvPr>
          <p:cNvSpPr txBox="1"/>
          <p:nvPr/>
        </p:nvSpPr>
        <p:spPr>
          <a:xfrm>
            <a:off x="889000" y="30353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20272E"/>
                </a:solidFill>
                <a:latin typeface="Aptos" panose="020B0004020202020204" pitchFamily="34" charset="0"/>
              </a:rPr>
              <a:t>Split floating-point matrices into lower-precision parts, multiply those parts, and combine the partial answers.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21339-AA01-AF02-BC7C-72BF527BAC27}"/>
              </a:ext>
            </a:extLst>
          </p:cNvPr>
          <p:cNvSpPr txBox="1"/>
          <p:nvPr/>
        </p:nvSpPr>
        <p:spPr>
          <a:xfrm>
            <a:off x="889000" y="4114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With s matrix slices: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1C2B76-631C-3C5E-8988-B76394ED2381}"/>
              </a:ext>
            </a:extLst>
          </p:cNvPr>
          <p:cNvSpPr txBox="1"/>
          <p:nvPr/>
        </p:nvSpPr>
        <p:spPr>
          <a:xfrm>
            <a:off x="889000" y="44196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D36829"/>
                </a:solidFill>
                <a:latin typeface="Cambria Math" panose="02040503050406030204" pitchFamily="18" charset="0"/>
              </a:rPr>
              <a:t>low-precision GEMMs = s(s + 1) / 2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F1120770-C478-6D99-47EC-CADC3E4318C1}"/>
              </a:ext>
            </a:extLst>
          </p:cNvPr>
          <p:cNvSpPr/>
          <p:nvPr/>
        </p:nvSpPr>
        <p:spPr>
          <a:xfrm>
            <a:off x="5715000" y="3022600"/>
            <a:ext cx="736600" cy="736600"/>
          </a:xfrm>
          <a:prstGeom prst="chevron">
            <a:avLst/>
          </a:prstGeom>
          <a:solidFill>
            <a:srgbClr val="007E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800805-B536-D408-EFBE-7F0D61CF370D}"/>
              </a:ext>
            </a:extLst>
          </p:cNvPr>
          <p:cNvSpPr/>
          <p:nvPr/>
        </p:nvSpPr>
        <p:spPr>
          <a:xfrm>
            <a:off x="6680200" y="1879600"/>
            <a:ext cx="4902200" cy="3111500"/>
          </a:xfrm>
          <a:prstGeom prst="roundRect">
            <a:avLst/>
          </a:prstGeom>
          <a:solidFill>
            <a:srgbClr val="EBF7F6"/>
          </a:solidFill>
          <a:ln w="10160">
            <a:solidFill>
              <a:srgbClr val="00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0D5157-59EE-D750-3E03-F46D717C4297}"/>
              </a:ext>
            </a:extLst>
          </p:cNvPr>
          <p:cNvSpPr txBox="1"/>
          <p:nvPr/>
        </p:nvSpPr>
        <p:spPr>
          <a:xfrm>
            <a:off x="6959600" y="21336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007E84"/>
                </a:solidFill>
                <a:latin typeface="Aptos" panose="020B0004020202020204" pitchFamily="34" charset="0"/>
              </a:rPr>
              <a:t>WHAT THIS STUDY DOES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DA9A4-AD30-8FF9-4CC1-41C41118358F}"/>
              </a:ext>
            </a:extLst>
          </p:cNvPr>
          <p:cNvSpPr txBox="1"/>
          <p:nvPr/>
        </p:nvSpPr>
        <p:spPr>
          <a:xfrm>
            <a:off x="6959600" y="2540000"/>
            <a:ext cx="4191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12A43"/>
                </a:solidFill>
                <a:latin typeface="Aptos Display" panose="020B0004020202020204" pitchFamily="34" charset="0"/>
              </a:rPr>
              <a:t>Compare two kernel answers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05E5D2-8013-39A4-9115-804A22A9EC7A}"/>
              </a:ext>
            </a:extLst>
          </p:cNvPr>
          <p:cNvSpPr txBox="1"/>
          <p:nvPr/>
        </p:nvSpPr>
        <p:spPr>
          <a:xfrm>
            <a:off x="6959600" y="3035300"/>
            <a:ext cx="4191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20272E"/>
                </a:solidFill>
                <a:latin typeface="Aptos" panose="020B0004020202020204" pitchFamily="34" charset="0"/>
              </a:rPr>
              <a:t>Give IME and RVV the same INT8 matrices, then compare both INT32 answers with one independently calculated INT64 answer.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2691B0-3C5E-7209-B5A1-CEB9D8AA500E}"/>
              </a:ext>
            </a:extLst>
          </p:cNvPr>
          <p:cNvSpPr txBox="1"/>
          <p:nvPr/>
        </p:nvSpPr>
        <p:spPr>
          <a:xfrm>
            <a:off x="6959600" y="411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For an M x N x K matrix product: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2E1DFD-EBF5-F3FC-1E75-D942FD210526}"/>
              </a:ext>
            </a:extLst>
          </p:cNvPr>
          <p:cNvSpPr txBox="1"/>
          <p:nvPr/>
        </p:nvSpPr>
        <p:spPr>
          <a:xfrm>
            <a:off x="6959600" y="44196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007E84"/>
                </a:solidFill>
                <a:latin typeface="Cambria Math" panose="02040503050406030204" pitchFamily="18" charset="0"/>
              </a:rPr>
              <a:t>multiply-adds = M x N x K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EBFD955-DDF6-6491-7801-26F971A050C1}"/>
              </a:ext>
            </a:extLst>
          </p:cNvPr>
          <p:cNvSpPr/>
          <p:nvPr/>
        </p:nvSpPr>
        <p:spPr>
          <a:xfrm>
            <a:off x="609600" y="5257800"/>
            <a:ext cx="10972800" cy="889000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90134A-C30C-B6A6-2C98-73E656E87DED}"/>
              </a:ext>
            </a:extLst>
          </p:cNvPr>
          <p:cNvSpPr txBox="1"/>
          <p:nvPr/>
        </p:nvSpPr>
        <p:spPr>
          <a:xfrm>
            <a:off x="838200" y="5410200"/>
            <a:ext cx="105156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20272E"/>
                </a:solidFill>
                <a:latin typeface="Aptos" panose="020B0004020202020204" pitchFamily="34" charset="0"/>
              </a:rPr>
              <a:t>Taken from Ozaki: compare against a trusted answer and report the largest numerical difference.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AFE777-418B-2A73-1BA9-6FA123090E73}"/>
              </a:ext>
            </a:extLst>
          </p:cNvPr>
          <p:cNvSpPr txBox="1"/>
          <p:nvPr/>
        </p:nvSpPr>
        <p:spPr>
          <a:xfrm>
            <a:off x="838200" y="5740400"/>
            <a:ext cx="105156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5C6975"/>
                </a:solidFill>
                <a:latin typeface="Aptos" panose="020B0004020202020204" pitchFamily="34" charset="0"/>
              </a:rPr>
              <a:t>Different from Ozaki: we do not emulate floating point or use CRT; we test whether IME and RVV perform the same INT8-to-INT32 math.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A3AC8F-68C5-6152-0CFE-4348F25FC2F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2FA159F-5B47-CBE5-08E5-5965C983FD89}"/>
              </a:ext>
            </a:extLst>
          </p:cNvPr>
          <p:cNvSpPr txBox="1"/>
          <p:nvPr/>
        </p:nvSpPr>
        <p:spPr>
          <a:xfrm>
            <a:off x="609600" y="6540500"/>
            <a:ext cx="109728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750">
                <a:solidFill>
                  <a:srgbClr val="5C6975"/>
                </a:solidFill>
                <a:latin typeface="Aptos" panose="020B0004020202020204" pitchFamily="34" charset="0"/>
              </a:rPr>
              <a:t>Source: Ozaki et al., arXiv:2504.08009, Sec. 2.2 and Fig. 1; adaptation boundary stated explicitly for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41282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F61D7-2680-8422-521E-0315FBA73E5C}"/>
              </a:ext>
            </a:extLst>
          </p:cNvPr>
          <p:cNvSpPr txBox="1"/>
          <p:nvPr/>
        </p:nvSpPr>
        <p:spPr>
          <a:xfrm>
            <a:off x="609600" y="2794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007E84"/>
                </a:solidFill>
                <a:latin typeface="Aptos" panose="020B0004020202020204" pitchFamily="34" charset="0"/>
              </a:rPr>
              <a:t>NUMERICAL SAFETY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4C5FD-5A74-D41D-086B-358F781487A8}"/>
              </a:ext>
            </a:extLst>
          </p:cNvPr>
          <p:cNvSpPr txBox="1"/>
          <p:nvPr/>
        </p:nvSpPr>
        <p:spPr>
          <a:xfrm>
            <a:off x="609600" y="609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12A43"/>
                </a:solidFill>
                <a:latin typeface="Aptos Display" panose="020B0004020202020204" pitchFamily="34" charset="0"/>
              </a:rPr>
              <a:t>Can INT32 Hold the Largest Possible Answer?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F7C74-EC47-E8B3-560D-E3ADDC032935}"/>
              </a:ext>
            </a:extLst>
          </p:cNvPr>
          <p:cNvSpPr txBox="1"/>
          <p:nvPr/>
        </p:nvSpPr>
        <p:spPr>
          <a:xfrm>
            <a:off x="609600" y="11811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5C6975"/>
                </a:solidFill>
                <a:latin typeface="Aptos" panose="020B0004020202020204" pitchFamily="34" charset="0"/>
              </a:rPr>
              <a:t>We multiply the largest possible INT8 values and add 1,024 products.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C83655-9E53-C789-EECA-404A0F75BC9E}"/>
              </a:ext>
            </a:extLst>
          </p:cNvPr>
          <p:cNvCxnSpPr/>
          <p:nvPr/>
        </p:nvCxnSpPr>
        <p:spPr>
          <a:xfrm>
            <a:off x="609600" y="1574800"/>
            <a:ext cx="10972800" cy="0"/>
          </a:xfrm>
          <a:prstGeom prst="line">
            <a:avLst/>
          </a:prstGeom>
          <a:ln w="1270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36BF74-52C0-38BD-2DC6-5EE8E57F2EE6}"/>
              </a:ext>
            </a:extLst>
          </p:cNvPr>
          <p:cNvSpPr txBox="1"/>
          <p:nvPr/>
        </p:nvSpPr>
        <p:spPr>
          <a:xfrm>
            <a:off x="11277600" y="292100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38BF2E-D3F0-804A-5009-109DE6351AA5}"/>
              </a:ext>
            </a:extLst>
          </p:cNvPr>
          <p:cNvSpPr/>
          <p:nvPr/>
        </p:nvSpPr>
        <p:spPr>
          <a:xfrm>
            <a:off x="609600" y="1955800"/>
            <a:ext cx="2413000" cy="965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1F79D-231F-8BA2-D896-24E04CE9F21A}"/>
              </a:ext>
            </a:extLst>
          </p:cNvPr>
          <p:cNvSpPr txBox="1"/>
          <p:nvPr/>
        </p:nvSpPr>
        <p:spPr>
          <a:xfrm>
            <a:off x="787400" y="2108200"/>
            <a:ext cx="2057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200" b="1">
                <a:solidFill>
                  <a:srgbClr val="005C99"/>
                </a:solidFill>
                <a:latin typeface="Aptos Display" panose="020B0004020202020204" pitchFamily="34" charset="0"/>
              </a:rPr>
              <a:t>128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531868-6299-3886-19E2-20F3C684D722}"/>
              </a:ext>
            </a:extLst>
          </p:cNvPr>
          <p:cNvSpPr txBox="1"/>
          <p:nvPr/>
        </p:nvSpPr>
        <p:spPr>
          <a:xfrm>
            <a:off x="787400" y="2514600"/>
            <a:ext cx="2057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5C6975"/>
                </a:solidFill>
                <a:latin typeface="Aptos" panose="020B0004020202020204" pitchFamily="34" charset="0"/>
              </a:rPr>
              <a:t>largest size of one signed INT8 input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18085B-3B72-64A2-5CBB-45CB4E3436EF}"/>
              </a:ext>
            </a:extLst>
          </p:cNvPr>
          <p:cNvSpPr/>
          <p:nvPr/>
        </p:nvSpPr>
        <p:spPr>
          <a:xfrm>
            <a:off x="3276600" y="1955800"/>
            <a:ext cx="2794000" cy="965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0183D-9486-04A5-05F0-8AF094EC85C0}"/>
              </a:ext>
            </a:extLst>
          </p:cNvPr>
          <p:cNvSpPr txBox="1"/>
          <p:nvPr/>
        </p:nvSpPr>
        <p:spPr>
          <a:xfrm>
            <a:off x="3454400" y="2108200"/>
            <a:ext cx="2438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200" b="1">
                <a:solidFill>
                  <a:srgbClr val="D36829"/>
                </a:solidFill>
                <a:latin typeface="Aptos Display" panose="020B0004020202020204" pitchFamily="34" charset="0"/>
              </a:rPr>
              <a:t>16,384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74D0EE-10AE-A1B1-49DE-FFC40F495980}"/>
              </a:ext>
            </a:extLst>
          </p:cNvPr>
          <p:cNvSpPr txBox="1"/>
          <p:nvPr/>
        </p:nvSpPr>
        <p:spPr>
          <a:xfrm>
            <a:off x="3454400" y="2514600"/>
            <a:ext cx="2438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5C6975"/>
                </a:solidFill>
                <a:latin typeface="Aptos" panose="020B0004020202020204" pitchFamily="34" charset="0"/>
              </a:rPr>
              <a:t>largest product: 128 x 128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096E0F-CE7B-03D2-07D7-900E6B4DC077}"/>
              </a:ext>
            </a:extLst>
          </p:cNvPr>
          <p:cNvSpPr/>
          <p:nvPr/>
        </p:nvSpPr>
        <p:spPr>
          <a:xfrm>
            <a:off x="6324600" y="1955800"/>
            <a:ext cx="2413000" cy="965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CEBCD4-7166-6FAC-74E9-704EDA010411}"/>
              </a:ext>
            </a:extLst>
          </p:cNvPr>
          <p:cNvSpPr txBox="1"/>
          <p:nvPr/>
        </p:nvSpPr>
        <p:spPr>
          <a:xfrm>
            <a:off x="6502400" y="2108200"/>
            <a:ext cx="2057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200" b="1">
                <a:solidFill>
                  <a:srgbClr val="007E84"/>
                </a:solidFill>
                <a:latin typeface="Aptos Display" panose="020B0004020202020204" pitchFamily="34" charset="0"/>
              </a:rPr>
              <a:t>1,024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CC9495-0DD3-BA7C-C929-1F3B9A291AAC}"/>
              </a:ext>
            </a:extLst>
          </p:cNvPr>
          <p:cNvSpPr txBox="1"/>
          <p:nvPr/>
        </p:nvSpPr>
        <p:spPr>
          <a:xfrm>
            <a:off x="6502400" y="2514600"/>
            <a:ext cx="2057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5C6975"/>
                </a:solidFill>
                <a:latin typeface="Aptos" panose="020B0004020202020204" pitchFamily="34" charset="0"/>
              </a:rPr>
              <a:t>products added for one output value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4D4E1D-29D1-1C85-BBEB-102F26A15824}"/>
              </a:ext>
            </a:extLst>
          </p:cNvPr>
          <p:cNvSpPr/>
          <p:nvPr/>
        </p:nvSpPr>
        <p:spPr>
          <a:xfrm>
            <a:off x="8991600" y="1955800"/>
            <a:ext cx="2590800" cy="965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1B199-5CBC-3468-04EF-F5E1B582FDF1}"/>
              </a:ext>
            </a:extLst>
          </p:cNvPr>
          <p:cNvSpPr txBox="1"/>
          <p:nvPr/>
        </p:nvSpPr>
        <p:spPr>
          <a:xfrm>
            <a:off x="9169400" y="2108200"/>
            <a:ext cx="2235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200" b="1">
                <a:solidFill>
                  <a:srgbClr val="237D4D"/>
                </a:solidFill>
                <a:latin typeface="Aptos Display" panose="020B0004020202020204" pitchFamily="34" charset="0"/>
              </a:rPr>
              <a:t>16,777,216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524888-E596-81CC-15E7-CD95382AF517}"/>
              </a:ext>
            </a:extLst>
          </p:cNvPr>
          <p:cNvSpPr txBox="1"/>
          <p:nvPr/>
        </p:nvSpPr>
        <p:spPr>
          <a:xfrm>
            <a:off x="9169400" y="2514600"/>
            <a:ext cx="22352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5C6975"/>
                </a:solidFill>
                <a:latin typeface="Aptos" panose="020B0004020202020204" pitchFamily="34" charset="0"/>
              </a:rPr>
              <a:t>largest possible final output size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EBDDB7-F0B1-B91B-2C94-AAE8B2431C7B}"/>
              </a:ext>
            </a:extLst>
          </p:cNvPr>
          <p:cNvSpPr txBox="1"/>
          <p:nvPr/>
        </p:nvSpPr>
        <p:spPr>
          <a:xfrm>
            <a:off x="1143000" y="34671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112A43"/>
                </a:solidFill>
                <a:latin typeface="Cambria Math" panose="02040503050406030204" pitchFamily="18" charset="0"/>
              </a:rPr>
              <a:t>largest answer &lt;= K x largest A value x largest B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92AD19-2238-3A07-275B-ADDA931958AA}"/>
              </a:ext>
            </a:extLst>
          </p:cNvPr>
          <p:cNvSpPr txBox="1"/>
          <p:nvPr/>
        </p:nvSpPr>
        <p:spPr>
          <a:xfrm>
            <a:off x="1143000" y="3937000"/>
            <a:ext cx="9906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2200" b="1">
                <a:solidFill>
                  <a:srgbClr val="112A43"/>
                </a:solidFill>
                <a:latin typeface="Cambria Math" panose="02040503050406030204" pitchFamily="18" charset="0"/>
              </a:rPr>
              <a:t>= 1,024 x 128 x 128 = 16,777,216 = 2^24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E0D69E-7D5E-41A2-D679-843571AF125A}"/>
              </a:ext>
            </a:extLst>
          </p:cNvPr>
          <p:cNvSpPr/>
          <p:nvPr/>
        </p:nvSpPr>
        <p:spPr>
          <a:xfrm>
            <a:off x="1828800" y="4648200"/>
            <a:ext cx="8534400" cy="1092200"/>
          </a:xfrm>
          <a:prstGeom prst="roundRect">
            <a:avLst/>
          </a:prstGeom>
          <a:solidFill>
            <a:srgbClr val="EBF7F6"/>
          </a:solidFill>
          <a:ln w="10160">
            <a:solidFill>
              <a:srgbClr val="237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0B983F-2C0D-64EC-CA63-8DF794923912}"/>
              </a:ext>
            </a:extLst>
          </p:cNvPr>
          <p:cNvSpPr txBox="1"/>
          <p:nvPr/>
        </p:nvSpPr>
        <p:spPr>
          <a:xfrm>
            <a:off x="2082800" y="4851400"/>
            <a:ext cx="8026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fr-FR" sz="1600" b="1">
                <a:solidFill>
                  <a:srgbClr val="237D4D"/>
                </a:solidFill>
                <a:latin typeface="Cambria Math" panose="02040503050406030204" pitchFamily="18" charset="0"/>
              </a:rPr>
              <a:t>INT32 positive limit = 2^31 - 1 = 2,147,483,647</a:t>
            </a:r>
            <a:endParaRPr lang="en-US" sz="1600" b="1">
              <a:solidFill>
                <a:srgbClr val="237D4D"/>
              </a:solidFill>
              <a:latin typeface="Cambria Math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C92DED-0116-DD9E-51E1-19F16B66D1E2}"/>
              </a:ext>
            </a:extLst>
          </p:cNvPr>
          <p:cNvSpPr txBox="1"/>
          <p:nvPr/>
        </p:nvSpPr>
        <p:spPr>
          <a:xfrm>
            <a:off x="2082800" y="5270500"/>
            <a:ext cx="80264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50" b="1">
                <a:solidFill>
                  <a:srgbClr val="20272E"/>
                </a:solidFill>
                <a:latin typeface="Aptos" panose="020B0004020202020204" pitchFamily="34" charset="0"/>
              </a:rPr>
              <a:t>INT32 is about 128 times larger than the worst-case answer, so overflow should be zero.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5F05BF-C7DC-3CEE-7DF4-A09942D38A8D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14E45F8-FA87-15F5-95F9-910BF13C6469}"/>
              </a:ext>
            </a:extLst>
          </p:cNvPr>
          <p:cNvSpPr txBox="1"/>
          <p:nvPr/>
        </p:nvSpPr>
        <p:spPr>
          <a:xfrm>
            <a:off x="609600" y="6540500"/>
            <a:ext cx="109728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750">
                <a:solidFill>
                  <a:srgbClr val="5C6975"/>
                </a:solidFill>
                <a:latin typeface="Aptos" panose="020B0004020202020204" pitchFamily="34" charset="0"/>
              </a:rPr>
              <a:t>This is a worst-case calculation: actual random inputs normally produce smaller sums.</a:t>
            </a:r>
          </a:p>
        </p:txBody>
      </p:sp>
    </p:spTree>
    <p:extLst>
      <p:ext uri="{BB962C8B-B14F-4D97-AF65-F5344CB8AC3E}">
        <p14:creationId xmlns:p14="http://schemas.microsoft.com/office/powerpoint/2010/main" val="411207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FDE5E0-F708-3755-F2CA-E5A0551BF42A}"/>
              </a:ext>
            </a:extLst>
          </p:cNvPr>
          <p:cNvSpPr txBox="1"/>
          <p:nvPr/>
        </p:nvSpPr>
        <p:spPr>
          <a:xfrm>
            <a:off x="609600" y="2794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007E84"/>
                </a:solidFill>
                <a:latin typeface="Aptos" panose="020B0004020202020204" pitchFamily="34" charset="0"/>
              </a:rPr>
              <a:t>MATRIX MULTIPLICATION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63B40-76DA-3DE2-C3E4-A813C6DD6E6E}"/>
              </a:ext>
            </a:extLst>
          </p:cNvPr>
          <p:cNvSpPr txBox="1"/>
          <p:nvPr/>
        </p:nvSpPr>
        <p:spPr>
          <a:xfrm>
            <a:off x="609600" y="609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12A43"/>
                </a:solidFill>
                <a:latin typeface="Aptos Display" panose="020B0004020202020204" pitchFamily="34" charset="0"/>
              </a:rPr>
              <a:t>How One Output Number Is Made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BB625-6DB7-28AE-E583-CBE5D3030C62}"/>
              </a:ext>
            </a:extLst>
          </p:cNvPr>
          <p:cNvSpPr txBox="1"/>
          <p:nvPr/>
        </p:nvSpPr>
        <p:spPr>
          <a:xfrm>
            <a:off x="609600" y="11811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5C6975"/>
                </a:solidFill>
                <a:latin typeface="Aptos" panose="020B0004020202020204" pitchFamily="34" charset="0"/>
              </a:rPr>
              <a:t>Take one row from A and one column from B, multiply matching values, and add the products.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9E79DF-2A95-D3E6-658C-46390AC38D90}"/>
              </a:ext>
            </a:extLst>
          </p:cNvPr>
          <p:cNvCxnSpPr/>
          <p:nvPr/>
        </p:nvCxnSpPr>
        <p:spPr>
          <a:xfrm>
            <a:off x="609600" y="1574800"/>
            <a:ext cx="10972800" cy="0"/>
          </a:xfrm>
          <a:prstGeom prst="line">
            <a:avLst/>
          </a:prstGeom>
          <a:ln w="1270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79AE875-DC4C-85B7-653B-D2F928E481A5}"/>
              </a:ext>
            </a:extLst>
          </p:cNvPr>
          <p:cNvSpPr txBox="1"/>
          <p:nvPr/>
        </p:nvSpPr>
        <p:spPr>
          <a:xfrm>
            <a:off x="11277600" y="292100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79184D-1984-90A9-EFD5-E14A00139CA3}"/>
              </a:ext>
            </a:extLst>
          </p:cNvPr>
          <p:cNvSpPr/>
          <p:nvPr/>
        </p:nvSpPr>
        <p:spPr>
          <a:xfrm>
            <a:off x="609600" y="1993900"/>
            <a:ext cx="3175000" cy="2235200"/>
          </a:xfrm>
          <a:prstGeom prst="roundRect">
            <a:avLst/>
          </a:prstGeom>
          <a:solidFill>
            <a:srgbClr val="EEF5FA"/>
          </a:solidFill>
          <a:ln w="10160">
            <a:solidFill>
              <a:srgbClr val="005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DF7D52-456D-0020-0C68-7B392807C50F}"/>
              </a:ext>
            </a:extLst>
          </p:cNvPr>
          <p:cNvSpPr txBox="1"/>
          <p:nvPr/>
        </p:nvSpPr>
        <p:spPr>
          <a:xfrm>
            <a:off x="863600" y="22479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005C99"/>
                </a:solidFill>
                <a:latin typeface="Aptos" panose="020B0004020202020204" pitchFamily="34" charset="0"/>
              </a:rPr>
              <a:t>ROW i FROM MATRIX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19E62-00CE-AD1A-7E1E-35AB22365776}"/>
              </a:ext>
            </a:extLst>
          </p:cNvPr>
          <p:cNvSpPr txBox="1"/>
          <p:nvPr/>
        </p:nvSpPr>
        <p:spPr>
          <a:xfrm>
            <a:off x="863600" y="29083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112A43"/>
                </a:solidFill>
                <a:latin typeface="Cambria Math" panose="02040503050406030204" pitchFamily="18" charset="0"/>
              </a:rPr>
              <a:t>[  2     -1      3  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A199D-4B4D-43C0-FC78-A9149044D4B9}"/>
              </a:ext>
            </a:extLst>
          </p:cNvPr>
          <p:cNvSpPr txBox="1"/>
          <p:nvPr/>
        </p:nvSpPr>
        <p:spPr>
          <a:xfrm>
            <a:off x="863600" y="36703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5C6975"/>
                </a:solidFill>
                <a:latin typeface="Aptos" panose="020B0004020202020204" pitchFamily="34" charset="0"/>
              </a:rPr>
              <a:t>three values from one row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66BF34-DFCB-DE14-7427-6ED371C7669A}"/>
              </a:ext>
            </a:extLst>
          </p:cNvPr>
          <p:cNvSpPr txBox="1"/>
          <p:nvPr/>
        </p:nvSpPr>
        <p:spPr>
          <a:xfrm>
            <a:off x="4013200" y="27686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2800" b="1">
                <a:solidFill>
                  <a:srgbClr val="112A43"/>
                </a:solidFill>
                <a:latin typeface="Cambria Math" panose="02040503050406030204" pitchFamily="18" charset="0"/>
              </a:rPr>
              <a:t>x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2CB55E-755C-6509-051F-B64558FEB071}"/>
              </a:ext>
            </a:extLst>
          </p:cNvPr>
          <p:cNvSpPr/>
          <p:nvPr/>
        </p:nvSpPr>
        <p:spPr>
          <a:xfrm>
            <a:off x="4699000" y="1993900"/>
            <a:ext cx="2667000" cy="2235200"/>
          </a:xfrm>
          <a:prstGeom prst="roundRect">
            <a:avLst/>
          </a:prstGeom>
          <a:solidFill>
            <a:srgbClr val="FDF4ED"/>
          </a:solidFill>
          <a:ln w="10160">
            <a:solidFill>
              <a:srgbClr val="D368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ECB9E9-A9FF-B32A-BC53-EAF632F26F9F}"/>
              </a:ext>
            </a:extLst>
          </p:cNvPr>
          <p:cNvSpPr txBox="1"/>
          <p:nvPr/>
        </p:nvSpPr>
        <p:spPr>
          <a:xfrm>
            <a:off x="4953000" y="22479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D36829"/>
                </a:solidFill>
                <a:latin typeface="Aptos" panose="020B0004020202020204" pitchFamily="34" charset="0"/>
              </a:rPr>
              <a:t>COLUMN j FROM MATRIX 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AEC8BB-6CF1-EDE0-CD31-C125037695D4}"/>
              </a:ext>
            </a:extLst>
          </p:cNvPr>
          <p:cNvSpPr txBox="1"/>
          <p:nvPr/>
        </p:nvSpPr>
        <p:spPr>
          <a:xfrm>
            <a:off x="5461000" y="2654300"/>
            <a:ext cx="1143000" cy="8771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900" b="1">
                <a:solidFill>
                  <a:srgbClr val="112A43"/>
                </a:solidFill>
                <a:latin typeface="Cambria Math" panose="02040503050406030204" pitchFamily="18" charset="0"/>
              </a:rPr>
              <a:t>[  4
   5
  -2  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F14EF-6752-F3A3-522D-B13D9C2A9C25}"/>
              </a:ext>
            </a:extLst>
          </p:cNvPr>
          <p:cNvSpPr txBox="1"/>
          <p:nvPr/>
        </p:nvSpPr>
        <p:spPr>
          <a:xfrm>
            <a:off x="4953000" y="37846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5C6975"/>
                </a:solidFill>
                <a:latin typeface="Aptos" panose="020B0004020202020204" pitchFamily="34" charset="0"/>
              </a:rPr>
              <a:t>three matching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C918A4-A893-2DB4-BF73-9E51823798AC}"/>
              </a:ext>
            </a:extLst>
          </p:cNvPr>
          <p:cNvSpPr txBox="1"/>
          <p:nvPr/>
        </p:nvSpPr>
        <p:spPr>
          <a:xfrm>
            <a:off x="7658100" y="27686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2800" b="1">
                <a:solidFill>
                  <a:srgbClr val="112A43"/>
                </a:solidFill>
                <a:latin typeface="Cambria Math" panose="02040503050406030204" pitchFamily="18" charset="0"/>
              </a:rPr>
              <a:t>=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5A9A32-AD8A-334B-2ADD-6F506E85610B}"/>
              </a:ext>
            </a:extLst>
          </p:cNvPr>
          <p:cNvSpPr/>
          <p:nvPr/>
        </p:nvSpPr>
        <p:spPr>
          <a:xfrm>
            <a:off x="8382000" y="1993900"/>
            <a:ext cx="3200400" cy="2235200"/>
          </a:xfrm>
          <a:prstGeom prst="roundRect">
            <a:avLst/>
          </a:prstGeom>
          <a:solidFill>
            <a:srgbClr val="EBF7F6"/>
          </a:solidFill>
          <a:ln w="10160">
            <a:solidFill>
              <a:srgbClr val="00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0BE036-A454-F297-9D22-F5B121B2F5F9}"/>
              </a:ext>
            </a:extLst>
          </p:cNvPr>
          <p:cNvSpPr txBox="1"/>
          <p:nvPr/>
        </p:nvSpPr>
        <p:spPr>
          <a:xfrm>
            <a:off x="8636000" y="22479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007E84"/>
                </a:solidFill>
                <a:latin typeface="Aptos" panose="020B0004020202020204" pitchFamily="34" charset="0"/>
              </a:rPr>
              <a:t>ONE OUTPUT: C(i,j)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3DDA51-4C1C-8D84-2A9D-738C09E43BB6}"/>
              </a:ext>
            </a:extLst>
          </p:cNvPr>
          <p:cNvSpPr txBox="1"/>
          <p:nvPr/>
        </p:nvSpPr>
        <p:spPr>
          <a:xfrm>
            <a:off x="8636000" y="2768600"/>
            <a:ext cx="2692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500" b="1">
                <a:solidFill>
                  <a:srgbClr val="112A43"/>
                </a:solidFill>
                <a:latin typeface="Cambria Math" panose="02040503050406030204" pitchFamily="18" charset="0"/>
              </a:rPr>
              <a:t>2 x 4 + (-1) x 5 + 3 x (-2)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2FEBD2-06FE-81B9-DBD6-94928DC0B9B1}"/>
              </a:ext>
            </a:extLst>
          </p:cNvPr>
          <p:cNvSpPr txBox="1"/>
          <p:nvPr/>
        </p:nvSpPr>
        <p:spPr>
          <a:xfrm>
            <a:off x="8636000" y="3302000"/>
            <a:ext cx="269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237D4D"/>
                </a:solidFill>
                <a:latin typeface="Cambria Math" panose="02040503050406030204" pitchFamily="18" charset="0"/>
              </a:rPr>
              <a:t>= 8 - 5 - 6 = -3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A95074-569C-2F1E-E5A9-31775041066F}"/>
              </a:ext>
            </a:extLst>
          </p:cNvPr>
          <p:cNvSpPr txBox="1"/>
          <p:nvPr/>
        </p:nvSpPr>
        <p:spPr>
          <a:xfrm>
            <a:off x="8636000" y="37846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5C6975"/>
                </a:solidFill>
                <a:latin typeface="Aptos" panose="020B0004020202020204" pitchFamily="34" charset="0"/>
              </a:rPr>
              <a:t>multiply first, then add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3BFA741-70E0-65DB-AF17-878771914B12}"/>
              </a:ext>
            </a:extLst>
          </p:cNvPr>
          <p:cNvSpPr/>
          <p:nvPr/>
        </p:nvSpPr>
        <p:spPr>
          <a:xfrm>
            <a:off x="609600" y="4610100"/>
            <a:ext cx="10972800" cy="1473200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3D4974-6E76-DBB5-C5CD-19D33C00A758}"/>
              </a:ext>
            </a:extLst>
          </p:cNvPr>
          <p:cNvSpPr txBox="1"/>
          <p:nvPr/>
        </p:nvSpPr>
        <p:spPr>
          <a:xfrm>
            <a:off x="889000" y="48387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112A43"/>
                </a:solidFill>
                <a:latin typeface="Aptos" panose="020B0004020202020204" pitchFamily="34" charset="0"/>
              </a:rPr>
              <a:t>For the real 1024 x 1024 x 1024 experiment: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138D19-8F22-837F-59AB-2C5EF1858CA9}"/>
              </a:ext>
            </a:extLst>
          </p:cNvPr>
          <p:cNvSpPr txBox="1"/>
          <p:nvPr/>
        </p:nvSpPr>
        <p:spPr>
          <a:xfrm>
            <a:off x="889000" y="5283200"/>
            <a:ext cx="3238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05C99"/>
                </a:solidFill>
                <a:latin typeface="Aptos" panose="020B0004020202020204" pitchFamily="34" charset="0"/>
              </a:rPr>
              <a:t>one output = 1,024 products added together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1AFD04-6D92-057F-42A4-CCB4F50020CD}"/>
              </a:ext>
            </a:extLst>
          </p:cNvPr>
          <p:cNvSpPr txBox="1"/>
          <p:nvPr/>
        </p:nvSpPr>
        <p:spPr>
          <a:xfrm>
            <a:off x="4445000" y="5283200"/>
            <a:ext cx="330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00" b="1">
                <a:solidFill>
                  <a:srgbClr val="D36829"/>
                </a:solidFill>
                <a:latin typeface="Aptos" panose="020B0004020202020204" pitchFamily="34" charset="0"/>
              </a:rPr>
              <a:t>number of outputs = M x N = 1,048,576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E8CF13-9DE7-5897-F935-19F4B45435BF}"/>
              </a:ext>
            </a:extLst>
          </p:cNvPr>
          <p:cNvSpPr txBox="1"/>
          <p:nvPr/>
        </p:nvSpPr>
        <p:spPr>
          <a:xfrm>
            <a:off x="8001000" y="5207000"/>
            <a:ext cx="31750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50" b="1">
                <a:solidFill>
                  <a:srgbClr val="007E84"/>
                </a:solidFill>
                <a:latin typeface="Aptos" panose="020B0004020202020204" pitchFamily="34" charset="0"/>
              </a:rPr>
              <a:t>total multiply-adds = M x N x K = 1,073,741,824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D65DD65-F29D-67D5-D65A-B86E5AB8FE5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E3BEE8-ABE6-29BB-D403-952F67F76472}"/>
              </a:ext>
            </a:extLst>
          </p:cNvPr>
          <p:cNvSpPr txBox="1"/>
          <p:nvPr/>
        </p:nvSpPr>
        <p:spPr>
          <a:xfrm>
            <a:off x="609600" y="6540500"/>
            <a:ext cx="109728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750">
                <a:solidFill>
                  <a:srgbClr val="5C6975"/>
                </a:solidFill>
                <a:latin typeface="Aptos" panose="020B0004020202020204" pitchFamily="34" charset="0"/>
              </a:rPr>
              <a:t>The trusted INT64 calculation and both optimized kernels must produce the same C(i,j) value at every row and column.</a:t>
            </a:r>
          </a:p>
        </p:txBody>
      </p:sp>
    </p:spTree>
    <p:extLst>
      <p:ext uri="{BB962C8B-B14F-4D97-AF65-F5344CB8AC3E}">
        <p14:creationId xmlns:p14="http://schemas.microsoft.com/office/powerpoint/2010/main" val="8123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108B81-DCE0-EDA7-1D28-6A49B8A16908}"/>
              </a:ext>
            </a:extLst>
          </p:cNvPr>
          <p:cNvSpPr txBox="1"/>
          <p:nvPr/>
        </p:nvSpPr>
        <p:spPr>
          <a:xfrm>
            <a:off x="609600" y="2794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007E84"/>
                </a:solidFill>
                <a:latin typeface="Aptos" panose="020B0004020202020204" pitchFamily="34" charset="0"/>
              </a:rPr>
              <a:t>VALIDATION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7C9B3-17AD-E9E0-67E0-1AE5384ABD2D}"/>
              </a:ext>
            </a:extLst>
          </p:cNvPr>
          <p:cNvSpPr txBox="1"/>
          <p:nvPr/>
        </p:nvSpPr>
        <p:spPr>
          <a:xfrm>
            <a:off x="609600" y="609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12A43"/>
                </a:solidFill>
                <a:latin typeface="Aptos Display" panose="020B0004020202020204" pitchFamily="34" charset="0"/>
              </a:rPr>
              <a:t>How Every Output Value Is Checked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DC0B8-9E84-060D-9DB8-36E5BC5A1E40}"/>
              </a:ext>
            </a:extLst>
          </p:cNvPr>
          <p:cNvSpPr txBox="1"/>
          <p:nvPr/>
        </p:nvSpPr>
        <p:spPr>
          <a:xfrm>
            <a:off x="609600" y="11811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5C6975"/>
                </a:solidFill>
                <a:latin typeface="Aptos" panose="020B0004020202020204" pitchFamily="34" charset="0"/>
              </a:rPr>
              <a:t>The trusted answer is calculated separately from both optimized kernels.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CBA1DB-2A1B-94AD-F761-E56BFCC2CB68}"/>
              </a:ext>
            </a:extLst>
          </p:cNvPr>
          <p:cNvCxnSpPr/>
          <p:nvPr/>
        </p:nvCxnSpPr>
        <p:spPr>
          <a:xfrm>
            <a:off x="609600" y="1574800"/>
            <a:ext cx="10972800" cy="0"/>
          </a:xfrm>
          <a:prstGeom prst="line">
            <a:avLst/>
          </a:prstGeom>
          <a:ln w="1270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BC5E06-E16E-BF71-EB11-22B4860B979C}"/>
              </a:ext>
            </a:extLst>
          </p:cNvPr>
          <p:cNvSpPr txBox="1"/>
          <p:nvPr/>
        </p:nvSpPr>
        <p:spPr>
          <a:xfrm>
            <a:off x="11277600" y="292100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EFF096-C159-93C8-FC3A-141FBCAFCB09}"/>
              </a:ext>
            </a:extLst>
          </p:cNvPr>
          <p:cNvSpPr/>
          <p:nvPr/>
        </p:nvSpPr>
        <p:spPr>
          <a:xfrm>
            <a:off x="609600" y="1968500"/>
            <a:ext cx="1828800" cy="1270000"/>
          </a:xfrm>
          <a:prstGeom prst="roundRect">
            <a:avLst/>
          </a:prstGeom>
          <a:solidFill>
            <a:srgbClr val="EEF5FA"/>
          </a:solidFill>
          <a:ln w="10160">
            <a:solidFill>
              <a:srgbClr val="005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FD6466-6682-9982-8E87-0C35201FCD54}"/>
              </a:ext>
            </a:extLst>
          </p:cNvPr>
          <p:cNvSpPr txBox="1"/>
          <p:nvPr/>
        </p:nvSpPr>
        <p:spPr>
          <a:xfrm>
            <a:off x="736600" y="21590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005C99"/>
                </a:solidFill>
                <a:latin typeface="Aptos" panose="020B0004020202020204" pitchFamily="34" charset="0"/>
              </a:rPr>
              <a:t>Create A and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947D8-CD2F-7A53-16F1-0BE74A6534B3}"/>
              </a:ext>
            </a:extLst>
          </p:cNvPr>
          <p:cNvSpPr txBox="1"/>
          <p:nvPr/>
        </p:nvSpPr>
        <p:spPr>
          <a:xfrm>
            <a:off x="736600" y="25527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20272E"/>
                </a:solidFill>
                <a:latin typeface="Aptos" panose="020B0004020202020204" pitchFamily="34" charset="0"/>
              </a:rPr>
              <a:t>same random INT8
input values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03EB92-F3C4-A3F7-C4B1-007DB91E72EC}"/>
              </a:ext>
            </a:extLst>
          </p:cNvPr>
          <p:cNvCxnSpPr/>
          <p:nvPr/>
        </p:nvCxnSpPr>
        <p:spPr>
          <a:xfrm>
            <a:off x="2489200" y="2603500"/>
            <a:ext cx="279400" cy="0"/>
          </a:xfrm>
          <a:prstGeom prst="line">
            <a:avLst/>
          </a:prstGeom>
          <a:ln w="1651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F6E907-C751-8108-AAD5-C751775BCA5F}"/>
              </a:ext>
            </a:extLst>
          </p:cNvPr>
          <p:cNvSpPr/>
          <p:nvPr/>
        </p:nvSpPr>
        <p:spPr>
          <a:xfrm>
            <a:off x="2844800" y="1968500"/>
            <a:ext cx="1828800" cy="1270000"/>
          </a:xfrm>
          <a:prstGeom prst="roundRect">
            <a:avLst/>
          </a:prstGeom>
          <a:solidFill>
            <a:srgbClr val="FDF4ED"/>
          </a:solidFill>
          <a:ln w="10160">
            <a:solidFill>
              <a:srgbClr val="D368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14426-14FE-4F88-C19E-BF1EC77DAF3F}"/>
              </a:ext>
            </a:extLst>
          </p:cNvPr>
          <p:cNvSpPr txBox="1"/>
          <p:nvPr/>
        </p:nvSpPr>
        <p:spPr>
          <a:xfrm>
            <a:off x="2971800" y="21590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D36829"/>
                </a:solidFill>
                <a:latin typeface="Aptos" panose="020B0004020202020204" pitchFamily="34" charset="0"/>
              </a:rPr>
              <a:t>Trusted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B10C1F-58B2-4CE3-43A3-EFBE16123340}"/>
              </a:ext>
            </a:extLst>
          </p:cNvPr>
          <p:cNvSpPr txBox="1"/>
          <p:nvPr/>
        </p:nvSpPr>
        <p:spPr>
          <a:xfrm>
            <a:off x="2971800" y="25527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20272E"/>
                </a:solidFill>
                <a:latin typeface="Aptos" panose="020B0004020202020204" pitchFamily="34" charset="0"/>
              </a:rPr>
              <a:t>normal row-by-column
math using INT64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BD8CC7-A3C1-17AB-9680-036EB1B3F7DB}"/>
              </a:ext>
            </a:extLst>
          </p:cNvPr>
          <p:cNvCxnSpPr/>
          <p:nvPr/>
        </p:nvCxnSpPr>
        <p:spPr>
          <a:xfrm>
            <a:off x="4724400" y="2603500"/>
            <a:ext cx="279400" cy="0"/>
          </a:xfrm>
          <a:prstGeom prst="line">
            <a:avLst/>
          </a:prstGeom>
          <a:ln w="1651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A6B3E9-94DA-DFFF-9F94-E2B4E9E9CF4A}"/>
              </a:ext>
            </a:extLst>
          </p:cNvPr>
          <p:cNvSpPr/>
          <p:nvPr/>
        </p:nvSpPr>
        <p:spPr>
          <a:xfrm>
            <a:off x="5080000" y="1968500"/>
            <a:ext cx="1828800" cy="1270000"/>
          </a:xfrm>
          <a:prstGeom prst="roundRect">
            <a:avLst/>
          </a:prstGeom>
          <a:solidFill>
            <a:srgbClr val="EBF7F6"/>
          </a:solidFill>
          <a:ln w="10160">
            <a:solidFill>
              <a:srgbClr val="00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1A60D7-246E-0394-E9A7-2E9595D1F63B}"/>
              </a:ext>
            </a:extLst>
          </p:cNvPr>
          <p:cNvSpPr txBox="1"/>
          <p:nvPr/>
        </p:nvSpPr>
        <p:spPr>
          <a:xfrm>
            <a:off x="5207000" y="21590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007E84"/>
                </a:solidFill>
                <a:latin typeface="Aptos" panose="020B0004020202020204" pitchFamily="34" charset="0"/>
              </a:rPr>
              <a:t>Kernel answer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455394-1640-2BAC-5DE6-783183C29892}"/>
              </a:ext>
            </a:extLst>
          </p:cNvPr>
          <p:cNvSpPr txBox="1"/>
          <p:nvPr/>
        </p:nvSpPr>
        <p:spPr>
          <a:xfrm>
            <a:off x="5207000" y="25527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20272E"/>
                </a:solidFill>
                <a:latin typeface="Aptos" panose="020B0004020202020204" pitchFamily="34" charset="0"/>
              </a:rPr>
              <a:t>run IME or RVV
using INT32 output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588EAC-91B4-3001-CF3D-F5E914828ADD}"/>
              </a:ext>
            </a:extLst>
          </p:cNvPr>
          <p:cNvCxnSpPr/>
          <p:nvPr/>
        </p:nvCxnSpPr>
        <p:spPr>
          <a:xfrm>
            <a:off x="6959600" y="2603500"/>
            <a:ext cx="279400" cy="0"/>
          </a:xfrm>
          <a:prstGeom prst="line">
            <a:avLst/>
          </a:prstGeom>
          <a:ln w="1651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C7B32C-6C09-D269-811E-65C8C8D2EBDE}"/>
              </a:ext>
            </a:extLst>
          </p:cNvPr>
          <p:cNvSpPr/>
          <p:nvPr/>
        </p:nvSpPr>
        <p:spPr>
          <a:xfrm>
            <a:off x="7315200" y="1968500"/>
            <a:ext cx="1828800" cy="1270000"/>
          </a:xfrm>
          <a:prstGeom prst="roundRect">
            <a:avLst/>
          </a:prstGeom>
          <a:solidFill>
            <a:srgbClr val="EEF5FA"/>
          </a:solidFill>
          <a:ln w="10160">
            <a:solidFill>
              <a:srgbClr val="005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9228D7-C2B0-E08C-46DC-3B8A86C35099}"/>
              </a:ext>
            </a:extLst>
          </p:cNvPr>
          <p:cNvSpPr txBox="1"/>
          <p:nvPr/>
        </p:nvSpPr>
        <p:spPr>
          <a:xfrm>
            <a:off x="7442200" y="21590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005C99"/>
                </a:solidFill>
                <a:latin typeface="Aptos" panose="020B0004020202020204" pitchFamily="34" charset="0"/>
              </a:rPr>
              <a:t>Compare answers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40CE99-2518-C45E-D110-FC524B9FE38E}"/>
              </a:ext>
            </a:extLst>
          </p:cNvPr>
          <p:cNvSpPr txBox="1"/>
          <p:nvPr/>
        </p:nvSpPr>
        <p:spPr>
          <a:xfrm>
            <a:off x="7442200" y="25527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20272E"/>
                </a:solidFill>
                <a:latin typeface="Aptos" panose="020B0004020202020204" pitchFamily="34" charset="0"/>
              </a:rPr>
              <a:t>check all 1,048,576
output values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81BA5C9-BC36-4794-7BA5-1B7FCD1DA5B5}"/>
              </a:ext>
            </a:extLst>
          </p:cNvPr>
          <p:cNvCxnSpPr/>
          <p:nvPr/>
        </p:nvCxnSpPr>
        <p:spPr>
          <a:xfrm>
            <a:off x="9194800" y="2603500"/>
            <a:ext cx="279400" cy="0"/>
          </a:xfrm>
          <a:prstGeom prst="line">
            <a:avLst/>
          </a:prstGeom>
          <a:ln w="1651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CB8DC6-99EE-6B61-5947-EB398968DD38}"/>
              </a:ext>
            </a:extLst>
          </p:cNvPr>
          <p:cNvSpPr/>
          <p:nvPr/>
        </p:nvSpPr>
        <p:spPr>
          <a:xfrm>
            <a:off x="9550400" y="1968500"/>
            <a:ext cx="1828800" cy="1270000"/>
          </a:xfrm>
          <a:prstGeom prst="roundRect">
            <a:avLst/>
          </a:prstGeom>
          <a:solidFill>
            <a:srgbClr val="EEF5FA"/>
          </a:solidFill>
          <a:ln w="10160">
            <a:solidFill>
              <a:srgbClr val="005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23759E-6882-A281-0EFD-DC7027C24A57}"/>
              </a:ext>
            </a:extLst>
          </p:cNvPr>
          <p:cNvSpPr txBox="1"/>
          <p:nvPr/>
        </p:nvSpPr>
        <p:spPr>
          <a:xfrm>
            <a:off x="9677400" y="21590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005C99"/>
                </a:solidFill>
                <a:latin typeface="Aptos" panose="020B0004020202020204" pitchFamily="34" charset="0"/>
              </a:rPr>
              <a:t>Save results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A708C4-19E1-8021-CA38-9932924C23D3}"/>
              </a:ext>
            </a:extLst>
          </p:cNvPr>
          <p:cNvSpPr txBox="1"/>
          <p:nvPr/>
        </p:nvSpPr>
        <p:spPr>
          <a:xfrm>
            <a:off x="9677400" y="25527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20272E"/>
                </a:solidFill>
                <a:latin typeface="Aptos" panose="020B0004020202020204" pitchFamily="34" charset="0"/>
              </a:rPr>
              <a:t>CSV summary and
difference histogram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06BF03-C13A-2563-6313-34BC726F9611}"/>
              </a:ext>
            </a:extLst>
          </p:cNvPr>
          <p:cNvSpPr/>
          <p:nvPr/>
        </p:nvSpPr>
        <p:spPr>
          <a:xfrm>
            <a:off x="609600" y="3606800"/>
            <a:ext cx="10972800" cy="1917700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3B4AD9-656E-FCCF-054C-5DCFEDBB9CB2}"/>
              </a:ext>
            </a:extLst>
          </p:cNvPr>
          <p:cNvSpPr txBox="1"/>
          <p:nvPr/>
        </p:nvSpPr>
        <p:spPr>
          <a:xfrm>
            <a:off x="914400" y="38227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Difference for one output position (row i, column j)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CFC93D-36AF-7857-173E-240F243E3A83}"/>
              </a:ext>
            </a:extLst>
          </p:cNvPr>
          <p:cNvSpPr txBox="1"/>
          <p:nvPr/>
        </p:nvSpPr>
        <p:spPr>
          <a:xfrm>
            <a:off x="914400" y="4140200"/>
            <a:ext cx="10363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12A43"/>
                </a:solidFill>
                <a:latin typeface="Cambria Math" panose="02040503050406030204" pitchFamily="18" charset="0"/>
              </a:rPr>
              <a:t>difference(i,j) = abs(kernel answer(i,j) - trusted answer(i,j))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AF3208-A8AE-6E5F-8611-5CEFF03E89A4}"/>
              </a:ext>
            </a:extLst>
          </p:cNvPr>
          <p:cNvSpPr txBox="1"/>
          <p:nvPr/>
        </p:nvSpPr>
        <p:spPr>
          <a:xfrm>
            <a:off x="914400" y="46736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5C6975"/>
                </a:solidFill>
                <a:latin typeface="Aptos" panose="020B0004020202020204" pitchFamily="34" charset="0"/>
              </a:rPr>
              <a:t>Largest difference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E004C4-4031-B4C3-C597-C460A9041E86}"/>
              </a:ext>
            </a:extLst>
          </p:cNvPr>
          <p:cNvSpPr txBox="1"/>
          <p:nvPr/>
        </p:nvSpPr>
        <p:spPr>
          <a:xfrm>
            <a:off x="914400" y="4965700"/>
            <a:ext cx="27940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50" b="1">
                <a:solidFill>
                  <a:srgbClr val="005C99"/>
                </a:solidFill>
                <a:latin typeface="Cambria Math" panose="02040503050406030204" pitchFamily="18" charset="0"/>
              </a:rPr>
              <a:t>largest = max(difference)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9A43D5-BA47-BC83-08C4-38DC1E83BA19}"/>
              </a:ext>
            </a:extLst>
          </p:cNvPr>
          <p:cNvSpPr txBox="1"/>
          <p:nvPr/>
        </p:nvSpPr>
        <p:spPr>
          <a:xfrm>
            <a:off x="4445000" y="4673600"/>
            <a:ext cx="203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5C6975"/>
                </a:solidFill>
                <a:latin typeface="Aptos" panose="020B0004020202020204" pitchFamily="34" charset="0"/>
              </a:rPr>
              <a:t>Wrong output values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DF5A63-E6B5-E856-F3C4-6DFBAA502377}"/>
              </a:ext>
            </a:extLst>
          </p:cNvPr>
          <p:cNvSpPr txBox="1"/>
          <p:nvPr/>
        </p:nvSpPr>
        <p:spPr>
          <a:xfrm>
            <a:off x="4445000" y="4965700"/>
            <a:ext cx="31750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50" b="1">
                <a:solidFill>
                  <a:srgbClr val="D36829"/>
                </a:solidFill>
                <a:latin typeface="Cambria Math" panose="02040503050406030204" pitchFamily="18" charset="0"/>
              </a:rPr>
              <a:t>wrong = count(difference &gt; 0)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440353-F33B-E9D2-2677-6EB4C9B437F7}"/>
              </a:ext>
            </a:extLst>
          </p:cNvPr>
          <p:cNvSpPr txBox="1"/>
          <p:nvPr/>
        </p:nvSpPr>
        <p:spPr>
          <a:xfrm>
            <a:off x="8255000" y="4673600"/>
            <a:ext cx="203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5C6975"/>
                </a:solidFill>
                <a:latin typeface="Aptos" panose="020B0004020202020204" pitchFamily="34" charset="0"/>
              </a:rPr>
              <a:t>Correct percentage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AC4169-1E41-F38C-FC10-D51B758D81C6}"/>
              </a:ext>
            </a:extLst>
          </p:cNvPr>
          <p:cNvSpPr txBox="1"/>
          <p:nvPr/>
        </p:nvSpPr>
        <p:spPr>
          <a:xfrm>
            <a:off x="8255000" y="4965700"/>
            <a:ext cx="29210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 b="1">
                <a:solidFill>
                  <a:srgbClr val="007E84"/>
                </a:solidFill>
                <a:latin typeface="Cambria Math" panose="02040503050406030204" pitchFamily="18" charset="0"/>
              </a:rPr>
              <a:t>correct = (MN - wrong)/MN x 100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6AEB8F2-DAF8-7870-BF68-4941B98FA087}"/>
              </a:ext>
            </a:extLst>
          </p:cNvPr>
          <p:cNvSpPr/>
          <p:nvPr/>
        </p:nvSpPr>
        <p:spPr>
          <a:xfrm>
            <a:off x="2286000" y="5753100"/>
            <a:ext cx="7620000" cy="469900"/>
          </a:xfrm>
          <a:prstGeom prst="roundRect">
            <a:avLst/>
          </a:prstGeom>
          <a:solidFill>
            <a:srgbClr val="EBF7F6"/>
          </a:solidFill>
          <a:ln w="10160">
            <a:solidFill>
              <a:srgbClr val="237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725A56-2322-152C-4968-7DC7A22E8550}"/>
              </a:ext>
            </a:extLst>
          </p:cNvPr>
          <p:cNvSpPr txBox="1"/>
          <p:nvPr/>
        </p:nvSpPr>
        <p:spPr>
          <a:xfrm>
            <a:off x="2476500" y="5867400"/>
            <a:ext cx="72390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50" b="1">
                <a:solidFill>
                  <a:srgbClr val="237D4D"/>
                </a:solidFill>
                <a:latin typeface="Aptos" panose="020B0004020202020204" pitchFamily="34" charset="0"/>
              </a:rPr>
              <a:t>PASS only when: largest difference = 0, wrong outputs = 0, correct = 100%, overflow = 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0954EC-A459-DAC5-D44B-25C4A0D78405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33A1331-7FAC-3252-BB58-734CC7343A30}"/>
              </a:ext>
            </a:extLst>
          </p:cNvPr>
          <p:cNvSpPr txBox="1"/>
          <p:nvPr/>
        </p:nvSpPr>
        <p:spPr>
          <a:xfrm>
            <a:off x="609600" y="6540500"/>
            <a:ext cx="109728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750">
                <a:solidFill>
                  <a:srgbClr val="5C6975"/>
                </a:solidFill>
                <a:latin typeface="Aptos" panose="020B0004020202020204" pitchFamily="34" charset="0"/>
              </a:rPr>
              <a:t>The C checker performs this comparison independently for the IME-native and RVV-fallback paths.</a:t>
            </a:r>
          </a:p>
        </p:txBody>
      </p:sp>
    </p:spTree>
    <p:extLst>
      <p:ext uri="{BB962C8B-B14F-4D97-AF65-F5344CB8AC3E}">
        <p14:creationId xmlns:p14="http://schemas.microsoft.com/office/powerpoint/2010/main" val="162122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5C276C-F7F1-A6E8-4C55-A637CDE8B9F2}"/>
              </a:ext>
            </a:extLst>
          </p:cNvPr>
          <p:cNvSpPr txBox="1"/>
          <p:nvPr/>
        </p:nvSpPr>
        <p:spPr>
          <a:xfrm>
            <a:off x="609600" y="2794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007E84"/>
                </a:solidFill>
                <a:latin typeface="Aptos" panose="020B0004020202020204" pitchFamily="34" charset="0"/>
              </a:rPr>
              <a:t>MEASURED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36220-A3D7-279C-6462-27C776ECF55A}"/>
              </a:ext>
            </a:extLst>
          </p:cNvPr>
          <p:cNvSpPr txBox="1"/>
          <p:nvPr/>
        </p:nvSpPr>
        <p:spPr>
          <a:xfrm>
            <a:off x="609600" y="609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12A43"/>
                </a:solidFill>
                <a:latin typeface="Aptos Display" panose="020B0004020202020204" pitchFamily="34" charset="0"/>
              </a:rPr>
              <a:t>Full-Range INT8 Results on K1 (1024 x 1024 x 1024)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5E595-1E7E-EEE6-FDB4-E6341281F870}"/>
              </a:ext>
            </a:extLst>
          </p:cNvPr>
          <p:cNvSpPr txBox="1"/>
          <p:nvPr/>
        </p:nvSpPr>
        <p:spPr>
          <a:xfrm>
            <a:off x="609600" y="11811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5C6975"/>
                </a:solidFill>
                <a:latin typeface="Aptos" panose="020B0004020202020204" pitchFamily="34" charset="0"/>
              </a:rPr>
              <a:t>Real CSV values for VLEN=256 bits; each row combines the tested kernel settings.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73F62B-6EDB-6BEC-8797-C68E50B479B3}"/>
              </a:ext>
            </a:extLst>
          </p:cNvPr>
          <p:cNvCxnSpPr/>
          <p:nvPr/>
        </p:nvCxnSpPr>
        <p:spPr>
          <a:xfrm>
            <a:off x="609600" y="1574800"/>
            <a:ext cx="10972800" cy="0"/>
          </a:xfrm>
          <a:prstGeom prst="line">
            <a:avLst/>
          </a:prstGeom>
          <a:ln w="1270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A3F54A-9DB2-2DE0-6C4B-CC1C55E7CC95}"/>
              </a:ext>
            </a:extLst>
          </p:cNvPr>
          <p:cNvSpPr txBox="1"/>
          <p:nvPr/>
        </p:nvSpPr>
        <p:spPr>
          <a:xfrm>
            <a:off x="11277600" y="292100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1C5F6A-2009-520E-4CC5-D7C96BF86514}"/>
              </a:ext>
            </a:extLst>
          </p:cNvPr>
          <p:cNvSpPr/>
          <p:nvPr/>
        </p:nvSpPr>
        <p:spPr>
          <a:xfrm>
            <a:off x="609600" y="1879600"/>
            <a:ext cx="2641600" cy="457200"/>
          </a:xfrm>
          <a:prstGeom prst="rect">
            <a:avLst/>
          </a:prstGeom>
          <a:solidFill>
            <a:srgbClr val="112A43"/>
          </a:solidFill>
          <a:ln w="10160">
            <a:solidFill>
              <a:srgbClr val="11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9B229-9E55-1A84-AE7A-8EFF70B5A7AF}"/>
              </a:ext>
            </a:extLst>
          </p:cNvPr>
          <p:cNvSpPr txBox="1"/>
          <p:nvPr/>
        </p:nvSpPr>
        <p:spPr>
          <a:xfrm>
            <a:off x="685800" y="1993900"/>
            <a:ext cx="2489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Kernel path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F4E6A2-B712-78CA-6B75-24A44D916A80}"/>
              </a:ext>
            </a:extLst>
          </p:cNvPr>
          <p:cNvSpPr/>
          <p:nvPr/>
        </p:nvSpPr>
        <p:spPr>
          <a:xfrm>
            <a:off x="3251200" y="1879600"/>
            <a:ext cx="1244600" cy="457200"/>
          </a:xfrm>
          <a:prstGeom prst="rect">
            <a:avLst/>
          </a:prstGeom>
          <a:solidFill>
            <a:srgbClr val="112A43"/>
          </a:solidFill>
          <a:ln w="10160">
            <a:solidFill>
              <a:srgbClr val="11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F0369-4215-12F4-2471-3A7A4229415A}"/>
              </a:ext>
            </a:extLst>
          </p:cNvPr>
          <p:cNvSpPr txBox="1"/>
          <p:nvPr/>
        </p:nvSpPr>
        <p:spPr>
          <a:xfrm>
            <a:off x="3327400" y="1993900"/>
            <a:ext cx="1092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Output block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706F8E-C1A3-0D48-E368-BAABAC04E303}"/>
              </a:ext>
            </a:extLst>
          </p:cNvPr>
          <p:cNvSpPr/>
          <p:nvPr/>
        </p:nvSpPr>
        <p:spPr>
          <a:xfrm>
            <a:off x="4495800" y="1879600"/>
            <a:ext cx="1244600" cy="457200"/>
          </a:xfrm>
          <a:prstGeom prst="rect">
            <a:avLst/>
          </a:prstGeom>
          <a:solidFill>
            <a:srgbClr val="112A43"/>
          </a:solidFill>
          <a:ln w="10160">
            <a:solidFill>
              <a:srgbClr val="11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C6EBC-C793-7C80-C8F0-9B5CE8A57308}"/>
              </a:ext>
            </a:extLst>
          </p:cNvPr>
          <p:cNvSpPr txBox="1"/>
          <p:nvPr/>
        </p:nvSpPr>
        <p:spPr>
          <a:xfrm>
            <a:off x="4572000" y="1993900"/>
            <a:ext cx="1092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Vector grouping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E94AD8-1DE2-2564-4A26-58F48C186E45}"/>
              </a:ext>
            </a:extLst>
          </p:cNvPr>
          <p:cNvSpPr/>
          <p:nvPr/>
        </p:nvSpPr>
        <p:spPr>
          <a:xfrm>
            <a:off x="5740400" y="1879600"/>
            <a:ext cx="1498600" cy="457200"/>
          </a:xfrm>
          <a:prstGeom prst="rect">
            <a:avLst/>
          </a:prstGeom>
          <a:solidFill>
            <a:srgbClr val="112A43"/>
          </a:solidFill>
          <a:ln w="10160">
            <a:solidFill>
              <a:srgbClr val="11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00F80-BEAA-57D0-C740-A42F6D49978E}"/>
              </a:ext>
            </a:extLst>
          </p:cNvPr>
          <p:cNvSpPr txBox="1"/>
          <p:nvPr/>
        </p:nvSpPr>
        <p:spPr>
          <a:xfrm>
            <a:off x="5816600" y="1993900"/>
            <a:ext cx="1346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Correct runs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21F3E4-F513-0F86-1C9A-E09E43EBAF0D}"/>
              </a:ext>
            </a:extLst>
          </p:cNvPr>
          <p:cNvSpPr/>
          <p:nvPr/>
        </p:nvSpPr>
        <p:spPr>
          <a:xfrm>
            <a:off x="7239000" y="1879600"/>
            <a:ext cx="1422400" cy="457200"/>
          </a:xfrm>
          <a:prstGeom prst="rect">
            <a:avLst/>
          </a:prstGeom>
          <a:solidFill>
            <a:srgbClr val="112A43"/>
          </a:solidFill>
          <a:ln w="10160">
            <a:solidFill>
              <a:srgbClr val="11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F4A05-ACDF-FE2B-E476-7D0E355A248A}"/>
              </a:ext>
            </a:extLst>
          </p:cNvPr>
          <p:cNvSpPr txBox="1"/>
          <p:nvPr/>
        </p:nvSpPr>
        <p:spPr>
          <a:xfrm>
            <a:off x="7315200" y="19939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Success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0282F-390D-7848-F4B8-1F6F5EBF913D}"/>
              </a:ext>
            </a:extLst>
          </p:cNvPr>
          <p:cNvSpPr/>
          <p:nvPr/>
        </p:nvSpPr>
        <p:spPr>
          <a:xfrm>
            <a:off x="8661400" y="1879600"/>
            <a:ext cx="1473200" cy="457200"/>
          </a:xfrm>
          <a:prstGeom prst="rect">
            <a:avLst/>
          </a:prstGeom>
          <a:solidFill>
            <a:srgbClr val="112A43"/>
          </a:solidFill>
          <a:ln w="10160">
            <a:solidFill>
              <a:srgbClr val="11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E4D1AF-9977-C521-B6D2-29DB689BB121}"/>
              </a:ext>
            </a:extLst>
          </p:cNvPr>
          <p:cNvSpPr txBox="1"/>
          <p:nvPr/>
        </p:nvSpPr>
        <p:spPr>
          <a:xfrm>
            <a:off x="8737600" y="1993900"/>
            <a:ext cx="1320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Most wrong outputs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2895F5-D74E-3471-264A-6D0F111785CD}"/>
              </a:ext>
            </a:extLst>
          </p:cNvPr>
          <p:cNvSpPr/>
          <p:nvPr/>
        </p:nvSpPr>
        <p:spPr>
          <a:xfrm>
            <a:off x="10134600" y="1879600"/>
            <a:ext cx="1447800" cy="457200"/>
          </a:xfrm>
          <a:prstGeom prst="rect">
            <a:avLst/>
          </a:prstGeom>
          <a:solidFill>
            <a:srgbClr val="112A43"/>
          </a:solidFill>
          <a:ln w="10160">
            <a:solidFill>
              <a:srgbClr val="11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9EBBED-699F-7B83-2D3C-68E655AF8474}"/>
              </a:ext>
            </a:extLst>
          </p:cNvPr>
          <p:cNvSpPr txBox="1"/>
          <p:nvPr/>
        </p:nvSpPr>
        <p:spPr>
          <a:xfrm>
            <a:off x="10210800" y="19939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Largest difference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9E2C1E-31C3-DBC6-6887-89DF29B112EB}"/>
              </a:ext>
            </a:extLst>
          </p:cNvPr>
          <p:cNvSpPr/>
          <p:nvPr/>
        </p:nvSpPr>
        <p:spPr>
          <a:xfrm>
            <a:off x="609600" y="2336800"/>
            <a:ext cx="26416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AF3112-B786-0C5D-51D8-5BD0E204ED54}"/>
              </a:ext>
            </a:extLst>
          </p:cNvPr>
          <p:cNvSpPr txBox="1"/>
          <p:nvPr/>
        </p:nvSpPr>
        <p:spPr>
          <a:xfrm>
            <a:off x="698500" y="2514600"/>
            <a:ext cx="2463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IME native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59485A-7651-85BA-D768-84AF3446A8F9}"/>
              </a:ext>
            </a:extLst>
          </p:cNvPr>
          <p:cNvSpPr/>
          <p:nvPr/>
        </p:nvSpPr>
        <p:spPr>
          <a:xfrm>
            <a:off x="3251200" y="2336800"/>
            <a:ext cx="12446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663F4A-7DE7-F1C1-694D-388EF2156E99}"/>
              </a:ext>
            </a:extLst>
          </p:cNvPr>
          <p:cNvSpPr txBox="1"/>
          <p:nvPr/>
        </p:nvSpPr>
        <p:spPr>
          <a:xfrm>
            <a:off x="3340100" y="25146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8x4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1E9877-D320-D546-DC57-490BDD79FFB0}"/>
              </a:ext>
            </a:extLst>
          </p:cNvPr>
          <p:cNvSpPr/>
          <p:nvPr/>
        </p:nvSpPr>
        <p:spPr>
          <a:xfrm>
            <a:off x="4495800" y="2336800"/>
            <a:ext cx="12446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F84127-AF9C-E225-E7B8-4C82F15BF097}"/>
              </a:ext>
            </a:extLst>
          </p:cNvPr>
          <p:cNvSpPr txBox="1"/>
          <p:nvPr/>
        </p:nvSpPr>
        <p:spPr>
          <a:xfrm>
            <a:off x="4584700" y="25146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LMUL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E538FE-D658-DF53-9908-320A0AC73721}"/>
              </a:ext>
            </a:extLst>
          </p:cNvPr>
          <p:cNvSpPr/>
          <p:nvPr/>
        </p:nvSpPr>
        <p:spPr>
          <a:xfrm>
            <a:off x="5740400" y="2336800"/>
            <a:ext cx="14986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4ED251-7B0C-30FA-2292-D06C2863CE3E}"/>
              </a:ext>
            </a:extLst>
          </p:cNvPr>
          <p:cNvSpPr txBox="1"/>
          <p:nvPr/>
        </p:nvSpPr>
        <p:spPr>
          <a:xfrm>
            <a:off x="5829300" y="2514600"/>
            <a:ext cx="1320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20272E"/>
                </a:solidFill>
                <a:latin typeface="Aptos" panose="020B0004020202020204" pitchFamily="34" charset="0"/>
              </a:rPr>
              <a:t>16 / 16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3BB7A5-A264-9549-AE86-209FC1C7D39F}"/>
              </a:ext>
            </a:extLst>
          </p:cNvPr>
          <p:cNvSpPr/>
          <p:nvPr/>
        </p:nvSpPr>
        <p:spPr>
          <a:xfrm>
            <a:off x="7239000" y="2336800"/>
            <a:ext cx="14224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22C29A-0903-E21A-4B3C-CD4023ED5945}"/>
              </a:ext>
            </a:extLst>
          </p:cNvPr>
          <p:cNvSpPr txBox="1"/>
          <p:nvPr/>
        </p:nvSpPr>
        <p:spPr>
          <a:xfrm>
            <a:off x="7327900" y="2514600"/>
            <a:ext cx="1244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237D4D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BC54DC-7731-D6F2-EE0B-547ACD6FF193}"/>
              </a:ext>
            </a:extLst>
          </p:cNvPr>
          <p:cNvSpPr/>
          <p:nvPr/>
        </p:nvSpPr>
        <p:spPr>
          <a:xfrm>
            <a:off x="8661400" y="2336800"/>
            <a:ext cx="14732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A3A2AA-34E4-CAB8-8D75-1E049358AF29}"/>
              </a:ext>
            </a:extLst>
          </p:cNvPr>
          <p:cNvSpPr txBox="1"/>
          <p:nvPr/>
        </p:nvSpPr>
        <p:spPr>
          <a:xfrm>
            <a:off x="8750300" y="2514600"/>
            <a:ext cx="1295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ADD54C-5A26-807C-04AD-FDFFC6C615E0}"/>
              </a:ext>
            </a:extLst>
          </p:cNvPr>
          <p:cNvSpPr/>
          <p:nvPr/>
        </p:nvSpPr>
        <p:spPr>
          <a:xfrm>
            <a:off x="10134600" y="2336800"/>
            <a:ext cx="14478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FCC54D-EC33-A94B-6613-69E58800BD83}"/>
              </a:ext>
            </a:extLst>
          </p:cNvPr>
          <p:cNvSpPr txBox="1"/>
          <p:nvPr/>
        </p:nvSpPr>
        <p:spPr>
          <a:xfrm>
            <a:off x="10223500" y="25146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5B350-3BCC-E005-50C2-554E286820E8}"/>
              </a:ext>
            </a:extLst>
          </p:cNvPr>
          <p:cNvSpPr/>
          <p:nvPr/>
        </p:nvSpPr>
        <p:spPr>
          <a:xfrm>
            <a:off x="609600" y="2959100"/>
            <a:ext cx="26416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41D15-2675-5FBD-95D2-45DD0C790309}"/>
              </a:ext>
            </a:extLst>
          </p:cNvPr>
          <p:cNvSpPr txBox="1"/>
          <p:nvPr/>
        </p:nvSpPr>
        <p:spPr>
          <a:xfrm>
            <a:off x="698500" y="3136900"/>
            <a:ext cx="2463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RVV fallback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213358-42B8-73E6-2CC1-BB1EB40119B1}"/>
              </a:ext>
            </a:extLst>
          </p:cNvPr>
          <p:cNvSpPr/>
          <p:nvPr/>
        </p:nvSpPr>
        <p:spPr>
          <a:xfrm>
            <a:off x="3251200" y="2959100"/>
            <a:ext cx="12446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F6125F-D290-A628-AB46-7F431C29FA2F}"/>
              </a:ext>
            </a:extLst>
          </p:cNvPr>
          <p:cNvSpPr txBox="1"/>
          <p:nvPr/>
        </p:nvSpPr>
        <p:spPr>
          <a:xfrm>
            <a:off x="3340100" y="31369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8x4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CD6284-2F69-C2B0-6F50-58652C181FC0}"/>
              </a:ext>
            </a:extLst>
          </p:cNvPr>
          <p:cNvSpPr/>
          <p:nvPr/>
        </p:nvSpPr>
        <p:spPr>
          <a:xfrm>
            <a:off x="4495800" y="2959100"/>
            <a:ext cx="12446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90BFC6-0EF4-B8D9-71A0-F78323B430D0}"/>
              </a:ext>
            </a:extLst>
          </p:cNvPr>
          <p:cNvSpPr txBox="1"/>
          <p:nvPr/>
        </p:nvSpPr>
        <p:spPr>
          <a:xfrm>
            <a:off x="4584700" y="31369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LMUL 1 + 1/2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15CEDB-A3A4-3D26-53C3-D6A557A61C71}"/>
              </a:ext>
            </a:extLst>
          </p:cNvPr>
          <p:cNvSpPr/>
          <p:nvPr/>
        </p:nvSpPr>
        <p:spPr>
          <a:xfrm>
            <a:off x="5740400" y="2959100"/>
            <a:ext cx="14986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637CF1-BC7A-F8E9-9AB3-87F10ED1ACD1}"/>
              </a:ext>
            </a:extLst>
          </p:cNvPr>
          <p:cNvSpPr txBox="1"/>
          <p:nvPr/>
        </p:nvSpPr>
        <p:spPr>
          <a:xfrm>
            <a:off x="5829300" y="3136900"/>
            <a:ext cx="1320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20272E"/>
                </a:solidFill>
                <a:latin typeface="Aptos" panose="020B0004020202020204" pitchFamily="34" charset="0"/>
              </a:rPr>
              <a:t>8 / 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C6496B-7C60-16D9-5AD5-23867268B64A}"/>
              </a:ext>
            </a:extLst>
          </p:cNvPr>
          <p:cNvSpPr/>
          <p:nvPr/>
        </p:nvSpPr>
        <p:spPr>
          <a:xfrm>
            <a:off x="7239000" y="2959100"/>
            <a:ext cx="14224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1280EA-44CF-0732-CB3B-287CCF4CEF6B}"/>
              </a:ext>
            </a:extLst>
          </p:cNvPr>
          <p:cNvSpPr txBox="1"/>
          <p:nvPr/>
        </p:nvSpPr>
        <p:spPr>
          <a:xfrm>
            <a:off x="7327900" y="3136900"/>
            <a:ext cx="1244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237D4D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DD8165-0AA6-CCE7-7E8F-862E7B2D9350}"/>
              </a:ext>
            </a:extLst>
          </p:cNvPr>
          <p:cNvSpPr/>
          <p:nvPr/>
        </p:nvSpPr>
        <p:spPr>
          <a:xfrm>
            <a:off x="8661400" y="2959100"/>
            <a:ext cx="14732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364FEC-A3B7-C3D4-F898-BCB9C3BC05EF}"/>
              </a:ext>
            </a:extLst>
          </p:cNvPr>
          <p:cNvSpPr txBox="1"/>
          <p:nvPr/>
        </p:nvSpPr>
        <p:spPr>
          <a:xfrm>
            <a:off x="8750300" y="3136900"/>
            <a:ext cx="1295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9D7195-1096-0622-7943-A283D443B094}"/>
              </a:ext>
            </a:extLst>
          </p:cNvPr>
          <p:cNvSpPr/>
          <p:nvPr/>
        </p:nvSpPr>
        <p:spPr>
          <a:xfrm>
            <a:off x="10134600" y="2959100"/>
            <a:ext cx="1447800" cy="622300"/>
          </a:xfrm>
          <a:prstGeom prst="rect">
            <a:avLst/>
          </a:prstGeom>
          <a:solidFill>
            <a:srgbClr val="EBF7F6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74134A-A7A9-C355-3C31-388BA1BF53D7}"/>
              </a:ext>
            </a:extLst>
          </p:cNvPr>
          <p:cNvSpPr txBox="1"/>
          <p:nvPr/>
        </p:nvSpPr>
        <p:spPr>
          <a:xfrm>
            <a:off x="10223500" y="31369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69F25C-AEB7-8DB3-9979-78B8A075FD8F}"/>
              </a:ext>
            </a:extLst>
          </p:cNvPr>
          <p:cNvSpPr/>
          <p:nvPr/>
        </p:nvSpPr>
        <p:spPr>
          <a:xfrm>
            <a:off x="609600" y="3581400"/>
            <a:ext cx="2641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6B643A-9CEE-6233-91EC-9A7A43E9ADB3}"/>
              </a:ext>
            </a:extLst>
          </p:cNvPr>
          <p:cNvSpPr txBox="1"/>
          <p:nvPr/>
        </p:nvSpPr>
        <p:spPr>
          <a:xfrm>
            <a:off x="698500" y="3759200"/>
            <a:ext cx="2463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IME native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FF460C-F747-DA22-BBC2-668CC85A6D18}"/>
              </a:ext>
            </a:extLst>
          </p:cNvPr>
          <p:cNvSpPr/>
          <p:nvPr/>
        </p:nvSpPr>
        <p:spPr>
          <a:xfrm>
            <a:off x="3251200" y="3581400"/>
            <a:ext cx="1244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07F567-FBD6-CD46-D1F6-A8F42B67F251}"/>
              </a:ext>
            </a:extLst>
          </p:cNvPr>
          <p:cNvSpPr txBox="1"/>
          <p:nvPr/>
        </p:nvSpPr>
        <p:spPr>
          <a:xfrm>
            <a:off x="3340100" y="37592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8x4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A274C83-55A4-7F91-78EB-F564566A114F}"/>
              </a:ext>
            </a:extLst>
          </p:cNvPr>
          <p:cNvSpPr/>
          <p:nvPr/>
        </p:nvSpPr>
        <p:spPr>
          <a:xfrm>
            <a:off x="4495800" y="3581400"/>
            <a:ext cx="1244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DD8C5E-9F58-AB1C-C924-9FBF7BFFA4A6}"/>
              </a:ext>
            </a:extLst>
          </p:cNvPr>
          <p:cNvSpPr txBox="1"/>
          <p:nvPr/>
        </p:nvSpPr>
        <p:spPr>
          <a:xfrm>
            <a:off x="4584700" y="37592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LMUL 1/2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C1CCB42-8DCE-349D-896D-F03F77D1A750}"/>
              </a:ext>
            </a:extLst>
          </p:cNvPr>
          <p:cNvSpPr/>
          <p:nvPr/>
        </p:nvSpPr>
        <p:spPr>
          <a:xfrm>
            <a:off x="5740400" y="3581400"/>
            <a:ext cx="1498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FFBE92-12AC-F629-350C-0F97C0412C73}"/>
              </a:ext>
            </a:extLst>
          </p:cNvPr>
          <p:cNvSpPr txBox="1"/>
          <p:nvPr/>
        </p:nvSpPr>
        <p:spPr>
          <a:xfrm>
            <a:off x="5829300" y="3759200"/>
            <a:ext cx="1320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20272E"/>
                </a:solidFill>
                <a:latin typeface="Aptos" panose="020B0004020202020204" pitchFamily="34" charset="0"/>
              </a:rPr>
              <a:t>0 / 16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C66C89-AB0B-4014-9058-D4FE90DF2A21}"/>
              </a:ext>
            </a:extLst>
          </p:cNvPr>
          <p:cNvSpPr/>
          <p:nvPr/>
        </p:nvSpPr>
        <p:spPr>
          <a:xfrm>
            <a:off x="7239000" y="3581400"/>
            <a:ext cx="14224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531AB3-C5FB-6239-5224-5C292C32CB48}"/>
              </a:ext>
            </a:extLst>
          </p:cNvPr>
          <p:cNvSpPr txBox="1"/>
          <p:nvPr/>
        </p:nvSpPr>
        <p:spPr>
          <a:xfrm>
            <a:off x="7327900" y="3759200"/>
            <a:ext cx="1244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B1322C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1AE5E7-D1D4-E8DB-9EB8-769CBCC385BA}"/>
              </a:ext>
            </a:extLst>
          </p:cNvPr>
          <p:cNvSpPr/>
          <p:nvPr/>
        </p:nvSpPr>
        <p:spPr>
          <a:xfrm>
            <a:off x="8661400" y="3581400"/>
            <a:ext cx="14732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CDC13D-D08A-B1EA-289D-64ED7F955C55}"/>
              </a:ext>
            </a:extLst>
          </p:cNvPr>
          <p:cNvSpPr txBox="1"/>
          <p:nvPr/>
        </p:nvSpPr>
        <p:spPr>
          <a:xfrm>
            <a:off x="8750300" y="3759200"/>
            <a:ext cx="1295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1,048,571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4A08B9-3DD9-2C76-6CDE-B1839B7F6ECE}"/>
              </a:ext>
            </a:extLst>
          </p:cNvPr>
          <p:cNvSpPr/>
          <p:nvPr/>
        </p:nvSpPr>
        <p:spPr>
          <a:xfrm>
            <a:off x="10134600" y="3581400"/>
            <a:ext cx="14478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2706C4-B164-6239-CDD5-0152B8F8EB92}"/>
              </a:ext>
            </a:extLst>
          </p:cNvPr>
          <p:cNvSpPr txBox="1"/>
          <p:nvPr/>
        </p:nvSpPr>
        <p:spPr>
          <a:xfrm>
            <a:off x="10223500" y="37592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1,402,086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9512EC1-A731-DB2E-5106-0816D44DF84B}"/>
              </a:ext>
            </a:extLst>
          </p:cNvPr>
          <p:cNvSpPr/>
          <p:nvPr/>
        </p:nvSpPr>
        <p:spPr>
          <a:xfrm>
            <a:off x="609600" y="4203700"/>
            <a:ext cx="2641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DCA83D-F27B-75D7-4CA5-E600DF3B4941}"/>
              </a:ext>
            </a:extLst>
          </p:cNvPr>
          <p:cNvSpPr txBox="1"/>
          <p:nvPr/>
        </p:nvSpPr>
        <p:spPr>
          <a:xfrm>
            <a:off x="698500" y="4381500"/>
            <a:ext cx="2463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IME native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B7F3CB-56D3-E3B2-81A6-73AE411F2984}"/>
              </a:ext>
            </a:extLst>
          </p:cNvPr>
          <p:cNvSpPr/>
          <p:nvPr/>
        </p:nvSpPr>
        <p:spPr>
          <a:xfrm>
            <a:off x="3251200" y="4203700"/>
            <a:ext cx="1244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E91885-DA81-E00F-EE40-3FC7009EF6AF}"/>
              </a:ext>
            </a:extLst>
          </p:cNvPr>
          <p:cNvSpPr txBox="1"/>
          <p:nvPr/>
        </p:nvSpPr>
        <p:spPr>
          <a:xfrm>
            <a:off x="3340100" y="43815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8x8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C7DBEA7-BA71-8483-C335-565B1125BFEB}"/>
              </a:ext>
            </a:extLst>
          </p:cNvPr>
          <p:cNvSpPr/>
          <p:nvPr/>
        </p:nvSpPr>
        <p:spPr>
          <a:xfrm>
            <a:off x="4495800" y="4203700"/>
            <a:ext cx="1244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B1A7E4-A878-89D4-AD04-42755CB9F1C5}"/>
              </a:ext>
            </a:extLst>
          </p:cNvPr>
          <p:cNvSpPr txBox="1"/>
          <p:nvPr/>
        </p:nvSpPr>
        <p:spPr>
          <a:xfrm>
            <a:off x="4584700" y="43815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LMUL 1 + 1/2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3E4C9F9-C3A8-2006-B4A3-B982B2EDE401}"/>
              </a:ext>
            </a:extLst>
          </p:cNvPr>
          <p:cNvSpPr/>
          <p:nvPr/>
        </p:nvSpPr>
        <p:spPr>
          <a:xfrm>
            <a:off x="5740400" y="4203700"/>
            <a:ext cx="1498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2B1AF5-714E-DCF7-5886-F210B27D468A}"/>
              </a:ext>
            </a:extLst>
          </p:cNvPr>
          <p:cNvSpPr txBox="1"/>
          <p:nvPr/>
        </p:nvSpPr>
        <p:spPr>
          <a:xfrm>
            <a:off x="5829300" y="4381500"/>
            <a:ext cx="1320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20272E"/>
                </a:solidFill>
                <a:latin typeface="Aptos" panose="020B0004020202020204" pitchFamily="34" charset="0"/>
              </a:rPr>
              <a:t>0 / 32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B76E3A5-5BA8-BFC8-C542-43EA7E9BB3CF}"/>
              </a:ext>
            </a:extLst>
          </p:cNvPr>
          <p:cNvSpPr/>
          <p:nvPr/>
        </p:nvSpPr>
        <p:spPr>
          <a:xfrm>
            <a:off x="7239000" y="4203700"/>
            <a:ext cx="14224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226510-5784-03ED-6EC9-723506B344D5}"/>
              </a:ext>
            </a:extLst>
          </p:cNvPr>
          <p:cNvSpPr txBox="1"/>
          <p:nvPr/>
        </p:nvSpPr>
        <p:spPr>
          <a:xfrm>
            <a:off x="7327900" y="4381500"/>
            <a:ext cx="1244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B1322C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ED8481E-BB8F-0B20-E56F-C680DECA9290}"/>
              </a:ext>
            </a:extLst>
          </p:cNvPr>
          <p:cNvSpPr/>
          <p:nvPr/>
        </p:nvSpPr>
        <p:spPr>
          <a:xfrm>
            <a:off x="8661400" y="4203700"/>
            <a:ext cx="14732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E7F1F9-75A0-5C4E-6271-411CFE7D4880}"/>
              </a:ext>
            </a:extLst>
          </p:cNvPr>
          <p:cNvSpPr txBox="1"/>
          <p:nvPr/>
        </p:nvSpPr>
        <p:spPr>
          <a:xfrm>
            <a:off x="8750300" y="4381500"/>
            <a:ext cx="1295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1,048,576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3E2629-7412-519A-8414-A5548612A739}"/>
              </a:ext>
            </a:extLst>
          </p:cNvPr>
          <p:cNvSpPr/>
          <p:nvPr/>
        </p:nvSpPr>
        <p:spPr>
          <a:xfrm>
            <a:off x="10134600" y="4203700"/>
            <a:ext cx="14478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D61351-B9F6-956B-9DF5-84204EAF5383}"/>
              </a:ext>
            </a:extLst>
          </p:cNvPr>
          <p:cNvSpPr txBox="1"/>
          <p:nvPr/>
        </p:nvSpPr>
        <p:spPr>
          <a:xfrm>
            <a:off x="10223500" y="43815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1,470,339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386B4A1-7E67-7C30-A5CB-073F604B26E8}"/>
              </a:ext>
            </a:extLst>
          </p:cNvPr>
          <p:cNvSpPr/>
          <p:nvPr/>
        </p:nvSpPr>
        <p:spPr>
          <a:xfrm>
            <a:off x="609600" y="4826000"/>
            <a:ext cx="2641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541C7A-20B0-F3EA-DEDA-5429D888EBA9}"/>
              </a:ext>
            </a:extLst>
          </p:cNvPr>
          <p:cNvSpPr txBox="1"/>
          <p:nvPr/>
        </p:nvSpPr>
        <p:spPr>
          <a:xfrm>
            <a:off x="698500" y="5003800"/>
            <a:ext cx="2463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RVV fallback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F76DFBF-3A52-F96E-D9FE-112635E0241C}"/>
              </a:ext>
            </a:extLst>
          </p:cNvPr>
          <p:cNvSpPr/>
          <p:nvPr/>
        </p:nvSpPr>
        <p:spPr>
          <a:xfrm>
            <a:off x="3251200" y="4826000"/>
            <a:ext cx="1244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4A8CF9-8F28-57D6-B65C-49B96B58BC2C}"/>
              </a:ext>
            </a:extLst>
          </p:cNvPr>
          <p:cNvSpPr txBox="1"/>
          <p:nvPr/>
        </p:nvSpPr>
        <p:spPr>
          <a:xfrm>
            <a:off x="3340100" y="50038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8x8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D5278C4-6020-B4A9-EB0F-F8C05AE5C56C}"/>
              </a:ext>
            </a:extLst>
          </p:cNvPr>
          <p:cNvSpPr/>
          <p:nvPr/>
        </p:nvSpPr>
        <p:spPr>
          <a:xfrm>
            <a:off x="4495800" y="4826000"/>
            <a:ext cx="1244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EF89285-113C-CCE4-B85B-6AE462FC076A}"/>
              </a:ext>
            </a:extLst>
          </p:cNvPr>
          <p:cNvSpPr txBox="1"/>
          <p:nvPr/>
        </p:nvSpPr>
        <p:spPr>
          <a:xfrm>
            <a:off x="4584700" y="5003800"/>
            <a:ext cx="1066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LMUL 1 + 1/2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978958A-73E7-0A61-2A92-7E3647456191}"/>
              </a:ext>
            </a:extLst>
          </p:cNvPr>
          <p:cNvSpPr/>
          <p:nvPr/>
        </p:nvSpPr>
        <p:spPr>
          <a:xfrm>
            <a:off x="5740400" y="4826000"/>
            <a:ext cx="14986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DE338D-78F1-02FE-5DEE-335EA0248291}"/>
              </a:ext>
            </a:extLst>
          </p:cNvPr>
          <p:cNvSpPr txBox="1"/>
          <p:nvPr/>
        </p:nvSpPr>
        <p:spPr>
          <a:xfrm>
            <a:off x="5829300" y="5003800"/>
            <a:ext cx="1320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20272E"/>
                </a:solidFill>
                <a:latin typeface="Aptos" panose="020B0004020202020204" pitchFamily="34" charset="0"/>
              </a:rPr>
              <a:t>0 / 8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4B62B4D-E869-1349-929E-3466E490C901}"/>
              </a:ext>
            </a:extLst>
          </p:cNvPr>
          <p:cNvSpPr/>
          <p:nvPr/>
        </p:nvSpPr>
        <p:spPr>
          <a:xfrm>
            <a:off x="7239000" y="4826000"/>
            <a:ext cx="14224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67CCA8D-6191-F53E-FAEE-C5FE91721660}"/>
              </a:ext>
            </a:extLst>
          </p:cNvPr>
          <p:cNvSpPr txBox="1"/>
          <p:nvPr/>
        </p:nvSpPr>
        <p:spPr>
          <a:xfrm>
            <a:off x="7327900" y="5003800"/>
            <a:ext cx="1244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 b="1">
                <a:solidFill>
                  <a:srgbClr val="B1322C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5388B8D-1A5B-1A40-2200-B5B2032146CB}"/>
              </a:ext>
            </a:extLst>
          </p:cNvPr>
          <p:cNvSpPr/>
          <p:nvPr/>
        </p:nvSpPr>
        <p:spPr>
          <a:xfrm>
            <a:off x="8661400" y="4826000"/>
            <a:ext cx="14732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724B333-9305-DEF1-6BCD-ACFC958273E7}"/>
              </a:ext>
            </a:extLst>
          </p:cNvPr>
          <p:cNvSpPr txBox="1"/>
          <p:nvPr/>
        </p:nvSpPr>
        <p:spPr>
          <a:xfrm>
            <a:off x="8750300" y="5003800"/>
            <a:ext cx="12954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1,048,574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09D854B-99D8-1467-1188-B3C6102417C9}"/>
              </a:ext>
            </a:extLst>
          </p:cNvPr>
          <p:cNvSpPr/>
          <p:nvPr/>
        </p:nvSpPr>
        <p:spPr>
          <a:xfrm>
            <a:off x="10134600" y="4826000"/>
            <a:ext cx="1447800" cy="622300"/>
          </a:xfrm>
          <a:prstGeom prst="rect">
            <a:avLst/>
          </a:prstGeom>
          <a:solidFill>
            <a:srgbClr val="FCEEED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74E3A8-7D27-9D8D-6C3E-391B01891A29}"/>
              </a:ext>
            </a:extLst>
          </p:cNvPr>
          <p:cNvSpPr txBox="1"/>
          <p:nvPr/>
        </p:nvSpPr>
        <p:spPr>
          <a:xfrm>
            <a:off x="10223500" y="50038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20272E"/>
                </a:solidFill>
                <a:latin typeface="Aptos" panose="020B0004020202020204" pitchFamily="34" charset="0"/>
              </a:rPr>
              <a:t>1,255,732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52C6BD5-423F-C3CE-025B-424A2FF77BE8}"/>
              </a:ext>
            </a:extLst>
          </p:cNvPr>
          <p:cNvSpPr/>
          <p:nvPr/>
        </p:nvSpPr>
        <p:spPr>
          <a:xfrm>
            <a:off x="609600" y="5664200"/>
            <a:ext cx="10972800" cy="558800"/>
          </a:xfrm>
          <a:prstGeom prst="roundRect">
            <a:avLst/>
          </a:prstGeom>
          <a:solidFill>
            <a:srgbClr val="EEF5FA"/>
          </a:solidFill>
          <a:ln w="10160">
            <a:solidFill>
              <a:srgbClr val="005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F693B53-526F-4C14-CE79-B5771DB92E96}"/>
              </a:ext>
            </a:extLst>
          </p:cNvPr>
          <p:cNvSpPr txBox="1"/>
          <p:nvPr/>
        </p:nvSpPr>
        <p:spPr>
          <a:xfrm>
            <a:off x="825500" y="58166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50" b="1">
                <a:solidFill>
                  <a:srgbClr val="112A43"/>
                </a:solidFill>
                <a:latin typeface="Aptos" panose="020B0004020202020204" pitchFamily="34" charset="0"/>
              </a:rPr>
              <a:t>The archived data confirms the 8x4 IME LMUL1 and 8x4 RVV paths. The other listed variants failed this exact test.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24168EA-7CAB-DA21-0368-1F1B6BF17DC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2E39507-4D7A-F294-D978-9F16BED03434}"/>
              </a:ext>
            </a:extLst>
          </p:cNvPr>
          <p:cNvSpPr txBox="1"/>
          <p:nvPr/>
        </p:nvSpPr>
        <p:spPr>
          <a:xfrm>
            <a:off x="609600" y="6540500"/>
            <a:ext cx="109728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750">
                <a:solidFill>
                  <a:srgbClr val="5C6975"/>
                </a:solidFill>
                <a:latin typeface="Aptos" panose="020B0004020202020204" pitchFamily="34" charset="0"/>
              </a:rPr>
              <a:t>Vector grouping is the plain-English meaning of LMUL. Data source: full_range_uniform, ZVL=256b, campaign 2026-06-09.</a:t>
            </a:r>
          </a:p>
        </p:txBody>
      </p:sp>
    </p:spTree>
    <p:extLst>
      <p:ext uri="{BB962C8B-B14F-4D97-AF65-F5344CB8AC3E}">
        <p14:creationId xmlns:p14="http://schemas.microsoft.com/office/powerpoint/2010/main" val="263606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2A74E-DE68-94FD-A2D3-98503F9CCC5D}"/>
              </a:ext>
            </a:extLst>
          </p:cNvPr>
          <p:cNvSpPr txBox="1"/>
          <p:nvPr/>
        </p:nvSpPr>
        <p:spPr>
          <a:xfrm>
            <a:off x="609600" y="2794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007E84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B4041-BC10-31BE-0BD2-281AFA32D4B0}"/>
              </a:ext>
            </a:extLst>
          </p:cNvPr>
          <p:cNvSpPr txBox="1"/>
          <p:nvPr/>
        </p:nvSpPr>
        <p:spPr>
          <a:xfrm>
            <a:off x="609600" y="609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12A43"/>
                </a:solidFill>
                <a:latin typeface="Aptos Display" panose="020B0004020202020204" pitchFamily="34" charset="0"/>
              </a:rPr>
              <a:t>When Are IME and RVV Mathematically Equal?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BF34B-0996-828A-59BE-B1281A49C0A2}"/>
              </a:ext>
            </a:extLst>
          </p:cNvPr>
          <p:cNvSpPr txBox="1"/>
          <p:nvPr/>
        </p:nvSpPr>
        <p:spPr>
          <a:xfrm>
            <a:off x="609600" y="11811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5C6975"/>
                </a:solidFill>
                <a:latin typeface="Aptos" panose="020B0004020202020204" pitchFamily="34" charset="0"/>
              </a:rPr>
              <a:t>They are equal only when both match the same independently calculated answer.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82AF6B-39FD-A5DB-051F-089473662C59}"/>
              </a:ext>
            </a:extLst>
          </p:cNvPr>
          <p:cNvCxnSpPr/>
          <p:nvPr/>
        </p:nvCxnSpPr>
        <p:spPr>
          <a:xfrm>
            <a:off x="609600" y="1574800"/>
            <a:ext cx="10972800" cy="0"/>
          </a:xfrm>
          <a:prstGeom prst="line">
            <a:avLst/>
          </a:prstGeom>
          <a:ln w="1270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D82F03-A0B2-433F-7275-537EFA830A46}"/>
              </a:ext>
            </a:extLst>
          </p:cNvPr>
          <p:cNvSpPr txBox="1"/>
          <p:nvPr/>
        </p:nvSpPr>
        <p:spPr>
          <a:xfrm>
            <a:off x="11277600" y="292100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E0CAF1-BC2C-D3E3-1E9C-86A38EB98E90}"/>
              </a:ext>
            </a:extLst>
          </p:cNvPr>
          <p:cNvSpPr/>
          <p:nvPr/>
        </p:nvSpPr>
        <p:spPr>
          <a:xfrm>
            <a:off x="609600" y="1917700"/>
            <a:ext cx="10972800" cy="1219200"/>
          </a:xfrm>
          <a:prstGeom prst="roundRect">
            <a:avLst/>
          </a:prstGeom>
          <a:solidFill>
            <a:srgbClr val="EBF7F6"/>
          </a:solidFill>
          <a:ln w="10160">
            <a:solidFill>
              <a:srgbClr val="237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8FFC2C-E92A-9EFA-CBEE-7530CA37874E}"/>
              </a:ext>
            </a:extLst>
          </p:cNvPr>
          <p:cNvSpPr txBox="1"/>
          <p:nvPr/>
        </p:nvSpPr>
        <p:spPr>
          <a:xfrm>
            <a:off x="889000" y="2159000"/>
            <a:ext cx="304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237D4D"/>
                </a:solidFill>
                <a:latin typeface="Aptos" panose="020B0004020202020204" pitchFamily="34" charset="0"/>
              </a:rPr>
              <a:t>Simple equality rule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8A76E-CB24-C038-EF77-45685DA1CEAE}"/>
              </a:ext>
            </a:extLst>
          </p:cNvPr>
          <p:cNvSpPr txBox="1"/>
          <p:nvPr/>
        </p:nvSpPr>
        <p:spPr>
          <a:xfrm>
            <a:off x="889000" y="2590800"/>
            <a:ext cx="104140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650" b="1">
                <a:solidFill>
                  <a:srgbClr val="112A43"/>
                </a:solidFill>
                <a:latin typeface="Cambria Math" panose="02040503050406030204" pitchFamily="18" charset="0"/>
              </a:rPr>
              <a:t>IME answer = trusted answer, and RVV answer = trusted answer  =&gt;  IME answer = RVV answer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352A52-1584-74AA-28CD-9B793C557CEC}"/>
              </a:ext>
            </a:extLst>
          </p:cNvPr>
          <p:cNvSpPr/>
          <p:nvPr/>
        </p:nvSpPr>
        <p:spPr>
          <a:xfrm>
            <a:off x="609600" y="3416300"/>
            <a:ext cx="5308600" cy="199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8A43A-6F55-2648-F086-B271788FAC74}"/>
              </a:ext>
            </a:extLst>
          </p:cNvPr>
          <p:cNvSpPr txBox="1"/>
          <p:nvPr/>
        </p:nvSpPr>
        <p:spPr>
          <a:xfrm>
            <a:off x="889000" y="3644900"/>
            <a:ext cx="4699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005C99"/>
                </a:solidFill>
                <a:latin typeface="Aptos" panose="020B0004020202020204" pitchFamily="34" charset="0"/>
              </a:rPr>
              <a:t>The mathematical check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39DBA-56EE-FDAF-B24A-10218411313F}"/>
              </a:ext>
            </a:extLst>
          </p:cNvPr>
          <p:cNvSpPr txBox="1"/>
          <p:nvPr/>
        </p:nvSpPr>
        <p:spPr>
          <a:xfrm>
            <a:off x="889000" y="4165600"/>
            <a:ext cx="4699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600" b="1">
                <a:solidFill>
                  <a:srgbClr val="112A43"/>
                </a:solidFill>
                <a:latin typeface="Cambria Math" panose="02040503050406030204" pitchFamily="18" charset="0"/>
              </a:rPr>
              <a:t>abs(IME - RVV)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3D9371-3120-E83B-DBA8-978B66D73F3A}"/>
              </a:ext>
            </a:extLst>
          </p:cNvPr>
          <p:cNvSpPr txBox="1"/>
          <p:nvPr/>
        </p:nvSpPr>
        <p:spPr>
          <a:xfrm>
            <a:off x="889000" y="4572000"/>
            <a:ext cx="46990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50" b="1">
                <a:solidFill>
                  <a:srgbClr val="112A43"/>
                </a:solidFill>
                <a:latin typeface="Cambria Math" panose="02040503050406030204" pitchFamily="18" charset="0"/>
              </a:rPr>
              <a:t>&lt;= abs(IME - trusted) + abs(RVV - trusted)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18E7F-6AB1-B2F3-1A84-E0E54360B18F}"/>
              </a:ext>
            </a:extLst>
          </p:cNvPr>
          <p:cNvSpPr txBox="1"/>
          <p:nvPr/>
        </p:nvSpPr>
        <p:spPr>
          <a:xfrm>
            <a:off x="889000" y="4978400"/>
            <a:ext cx="4699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600" b="1">
                <a:solidFill>
                  <a:srgbClr val="237D4D"/>
                </a:solidFill>
                <a:latin typeface="Cambria Math" panose="02040503050406030204" pitchFamily="18" charset="0"/>
              </a:rPr>
              <a:t>= 0 + 0 = 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375352-3124-33F1-38AC-7C41F5EC27FC}"/>
              </a:ext>
            </a:extLst>
          </p:cNvPr>
          <p:cNvSpPr/>
          <p:nvPr/>
        </p:nvSpPr>
        <p:spPr>
          <a:xfrm>
            <a:off x="6273800" y="3416300"/>
            <a:ext cx="5308600" cy="1993900"/>
          </a:xfrm>
          <a:prstGeom prst="roundRect">
            <a:avLst/>
          </a:prstGeom>
          <a:solidFill>
            <a:srgbClr val="FDF4ED"/>
          </a:solidFill>
          <a:ln w="10160">
            <a:solidFill>
              <a:srgbClr val="D368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4F6E20-B2AD-3930-8CE7-4AF94CE924AF}"/>
              </a:ext>
            </a:extLst>
          </p:cNvPr>
          <p:cNvSpPr txBox="1"/>
          <p:nvPr/>
        </p:nvSpPr>
        <p:spPr>
          <a:xfrm>
            <a:off x="6553200" y="3644900"/>
            <a:ext cx="4699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D36829"/>
                </a:solidFill>
                <a:latin typeface="Aptos" panose="020B0004020202020204" pitchFamily="34" charset="0"/>
              </a:rPr>
              <a:t>How to report the 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F29793-0948-DBA0-5C00-19A556DC5B51}"/>
              </a:ext>
            </a:extLst>
          </p:cNvPr>
          <p:cNvSpPr txBox="1"/>
          <p:nvPr/>
        </p:nvSpPr>
        <p:spPr>
          <a:xfrm>
            <a:off x="6553200" y="4140200"/>
            <a:ext cx="469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20272E"/>
                </a:solidFill>
                <a:latin typeface="Aptos" panose="020B0004020202020204" pitchFamily="34" charset="0"/>
              </a:rPr>
              <a:t>1. Say equal only when every output value is correct.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0FDFE1-BD62-FA3E-773C-7BAD78F459EC}"/>
              </a:ext>
            </a:extLst>
          </p:cNvPr>
          <p:cNvSpPr txBox="1"/>
          <p:nvPr/>
        </p:nvSpPr>
        <p:spPr>
          <a:xfrm>
            <a:off x="6553200" y="4546600"/>
            <a:ext cx="469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20272E"/>
                </a:solidFill>
                <a:latin typeface="Aptos" panose="020B0004020202020204" pitchFamily="34" charset="0"/>
              </a:rPr>
              <a:t>2. Show failed kernel settings instead of hiding them.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8CCE51-690F-045E-1304-E702ED70F1B0}"/>
              </a:ext>
            </a:extLst>
          </p:cNvPr>
          <p:cNvSpPr txBox="1"/>
          <p:nvPr/>
        </p:nvSpPr>
        <p:spPr>
          <a:xfrm>
            <a:off x="6553200" y="4953000"/>
            <a:ext cx="469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20272E"/>
                </a:solidFill>
                <a:latin typeface="Aptos" panose="020B0004020202020204" pitchFamily="34" charset="0"/>
              </a:rPr>
              <a:t>3. Repeat this test whenever the kernel code changes.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2A50B6-80C9-7807-50D8-43143B99CE38}"/>
              </a:ext>
            </a:extLst>
          </p:cNvPr>
          <p:cNvSpPr txBox="1"/>
          <p:nvPr/>
        </p:nvSpPr>
        <p:spPr>
          <a:xfrm>
            <a:off x="609600" y="57277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5C6975"/>
                </a:solidFill>
                <a:latin typeface="Aptos" panose="020B0004020202020204" pitchFamily="34" charset="0"/>
              </a:rPr>
              <a:t>Conference message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5C1FAB-8E36-09BA-C7A6-71CB7016D169}"/>
              </a:ext>
            </a:extLst>
          </p:cNvPr>
          <p:cNvSpPr txBox="1"/>
          <p:nvPr/>
        </p:nvSpPr>
        <p:spPr>
          <a:xfrm>
            <a:off x="2514600" y="5676900"/>
            <a:ext cx="90678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50" b="1">
                <a:solidFill>
                  <a:srgbClr val="112A43"/>
                </a:solidFill>
                <a:latin typeface="Aptos" panose="020B0004020202020204" pitchFamily="34" charset="0"/>
              </a:rPr>
              <a:t>The contribution is a repeatable test that proves which RISC-V IME and RVV integer kernels calculate exactly the same matrix.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A72251-CF5F-A40B-6D50-248F4C18B7DF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3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A86D40B-C612-9556-AA3A-14D88B9C1437}"/>
              </a:ext>
            </a:extLst>
          </p:cNvPr>
          <p:cNvSpPr txBox="1"/>
          <p:nvPr/>
        </p:nvSpPr>
        <p:spPr>
          <a:xfrm>
            <a:off x="609600" y="6540500"/>
            <a:ext cx="109728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750">
                <a:solidFill>
                  <a:srgbClr val="5C6975"/>
                </a:solidFill>
                <a:latin typeface="Aptos" panose="020B0004020202020204" pitchFamily="34" charset="0"/>
              </a:rPr>
              <a:t>Reference: K. Ozaki, Y. Uchino, and T. Imamura, Ozaki Scheme II, arXiv:2504.08009 (2025).</a:t>
            </a:r>
          </a:p>
        </p:txBody>
      </p:sp>
    </p:spTree>
    <p:extLst>
      <p:ext uri="{BB962C8B-B14F-4D97-AF65-F5344CB8AC3E}">
        <p14:creationId xmlns:p14="http://schemas.microsoft.com/office/powerpoint/2010/main" val="2719050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Office PowerPoint</Application>
  <PresentationFormat>Custom</PresentationFormat>
  <Paragraphs>152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Babar HUSSAIN</dc:creator>
  <cp:lastModifiedBy>Babar HUSSAIN</cp:lastModifiedBy>
  <cp:revision>1</cp:revision>
  <dcterms:created xsi:type="dcterms:W3CDTF">2026-07-11T13:13:06Z</dcterms:created>
  <dcterms:modified xsi:type="dcterms:W3CDTF">2026-07-11T13:13:06Z</dcterms:modified>
</cp:coreProperties>
</file>