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8D86F-ADB4-5258-55FE-523763088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06D23-A130-E194-ECF3-DFE22C61D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31B2F-9C68-D40F-D390-85E7AF55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D7403-81D7-140D-7265-9780791F3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13A93-30F6-DE7E-8BC9-114EA8229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52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084C9-A5A3-3A9C-54F0-DE1D99BB1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F1EA7-6972-58DA-E9E8-D507B60C4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59329-CA62-A447-AEAE-487F4E3F0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F75B-CF94-6AD1-1D73-AFC6BC1F2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6C2F5-ADAB-F666-8539-E4DA85772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843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6D7A-6F9C-7DA0-39DA-0B1983B3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A3B61-C4D5-9AE7-7BA8-4E2C4293D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AD36C-EF7C-15A4-7027-787352F9D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36396-1606-62CE-EE30-E28883D7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EF0A1-8567-C600-1556-8004CB64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079E-84F7-C453-4EBD-D4209BD7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4E6A3-394D-FD15-42CB-B812969192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3044F-8C90-E492-8344-D004810A2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03880-2E57-1F87-5F28-A7DF070A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145E5-8ACF-9BB1-CCFD-A95C5E1B0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7721B-0DF6-BE97-4DC3-0300C83D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1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1E22C-2E03-3B6B-73A3-F9E6A344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98DDD-6195-266C-16E1-3FFC45214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8B48BA-99B7-F705-67E0-1D0C9131E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45F15-2D51-B812-1F5F-FAE1562C8D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7B826-1132-B45C-34DE-5214EF70C0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45A132-471C-9AE8-2315-5709C057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D5853-D0CB-1B0B-75AB-4781802E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3510E6-A380-C17C-AA38-6E709AE70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25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A156-E100-3E56-480D-5446484C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52879-2BEB-D1FD-9CAA-BFFBC65B0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E191F5-C329-65E8-A982-A75C98F2F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A8C7F-6862-7FE0-EDF4-2E93BFB23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97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AEA2FC-13AC-B081-74D9-FA80FF82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73E461-6883-ED8E-AA6C-FED8772AB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16A55-DBB5-0B6E-4662-A47CAD703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3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01C71-A87D-19AE-47C3-6E5D603F0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FCDED-8E97-C36C-BC75-47E1E2063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7C9E8-C1E8-2F61-3580-B3A081CD8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F29CD3-7553-84DF-96AA-C6594EB9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8D612-5836-22C9-F003-BE903409C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13BD5-0F39-B46E-0972-C80BA729D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37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77F20-E773-B85C-2A8F-2D2587D09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473D31-537B-1246-C74A-F62FD2B08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1F2831-D1F3-0A02-5446-78C2DF99F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C0AB1-75D6-62AE-3FC0-0ADBB519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97D7D-D99F-549D-74D0-9A275C7AA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7CDBC8-37DA-B7B3-F97A-074C0C322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6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E690-861E-1A87-1368-22EE928EE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098320-7225-8CB5-A005-426BC3B42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2A015-D22C-8263-9295-1627D7666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50E38-868F-C3F9-30AB-AEA106437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7442-ED66-3586-F2CE-CA96A2A1C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84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573C3F-3CDF-C854-26C9-5F64497BA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87088-7E77-8F26-7717-A6477E8F3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AF4E-85B2-F693-5C39-79764ADDE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46BF5-0F60-CCFA-97AB-B92162B0A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F467F-9D10-6D69-9B0B-71AF4639D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04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E5B49C-EB4C-BD98-D2CF-25F53D6E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D4D757-916A-947B-18CA-65D68E697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CEA336-1772-5BFF-7EC5-90025318D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213FE1-2E31-4301-B20D-479055A5634D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9B27D-577E-FC91-EF8E-05D648666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AFE6E-A7ED-37F9-C4E9-82C1B419A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32E035-0656-4503-BE1F-4683BBCCF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8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C151C7-9E9B-37B4-1FEC-7AA0D6B43B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9EA620-BF8D-F5A5-5E60-4D01F04A141C}"/>
              </a:ext>
            </a:extLst>
          </p:cNvPr>
          <p:cNvSpPr/>
          <p:nvPr/>
        </p:nvSpPr>
        <p:spPr>
          <a:xfrm>
            <a:off x="0" y="0"/>
            <a:ext cx="12192000" cy="584200"/>
          </a:xfrm>
          <a:prstGeom prst="rect">
            <a:avLst/>
          </a:prstGeom>
          <a:solidFill>
            <a:srgbClr val="F1F5F9"/>
          </a:solidFill>
          <a:ln w="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6D553-E306-3E6C-8C81-0705B8ACA6BC}"/>
              </a:ext>
            </a:extLst>
          </p:cNvPr>
          <p:cNvSpPr txBox="1"/>
          <p:nvPr/>
        </p:nvSpPr>
        <p:spPr>
          <a:xfrm>
            <a:off x="533400" y="203200"/>
            <a:ext cx="5715000" cy="162096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720" b="1">
                <a:solidFill>
                  <a:srgbClr val="0A66C2"/>
                </a:solidFill>
                <a:latin typeface="Aptos" panose="020B0004020202020204" pitchFamily="34" charset="0"/>
              </a:rPr>
              <a:t>RISC-V K1 | ZVL256 | RVV + IME | OpenMP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493BE0-9ACB-0AC8-C2E9-99984A228587}"/>
              </a:ext>
            </a:extLst>
          </p:cNvPr>
          <p:cNvSpPr txBox="1"/>
          <p:nvPr/>
        </p:nvSpPr>
        <p:spPr>
          <a:xfrm>
            <a:off x="533400" y="1092200"/>
            <a:ext cx="8128000" cy="451406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2600" b="1">
                <a:solidFill>
                  <a:srgbClr val="111827"/>
                </a:solidFill>
                <a:latin typeface="Aptos" panose="020B0004020202020204" pitchFamily="34" charset="0"/>
              </a:rPr>
              <a:t>Heterogeneous RVV-IME GEMM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268DE-1B4E-6989-0DC4-3B1BA80AB711}"/>
              </a:ext>
            </a:extLst>
          </p:cNvPr>
          <p:cNvSpPr txBox="1"/>
          <p:nvPr/>
        </p:nvSpPr>
        <p:spPr>
          <a:xfrm>
            <a:off x="558800" y="1676400"/>
            <a:ext cx="7620000" cy="220573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100">
                <a:solidFill>
                  <a:srgbClr val="334155"/>
                </a:solidFill>
                <a:latin typeface="Aptos" panose="020B0004020202020204" pitchFamily="34" charset="0"/>
              </a:rPr>
              <a:t>A board-level OpenMP layer above optimized GEMM micro-kernels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B075CA-4E2A-B348-74F2-B092CB99FF88}"/>
              </a:ext>
            </a:extLst>
          </p:cNvPr>
          <p:cNvSpPr/>
          <p:nvPr/>
        </p:nvSpPr>
        <p:spPr>
          <a:xfrm>
            <a:off x="558800" y="2413000"/>
            <a:ext cx="4191000" cy="12065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8C8E33-6219-E73D-0C4F-F4501E8015F9}"/>
              </a:ext>
            </a:extLst>
          </p:cNvPr>
          <p:cNvSpPr/>
          <p:nvPr/>
        </p:nvSpPr>
        <p:spPr>
          <a:xfrm>
            <a:off x="558800" y="2413000"/>
            <a:ext cx="50800" cy="12065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2E53EB-95B8-C462-9CBA-C68A5F86478F}"/>
              </a:ext>
            </a:extLst>
          </p:cNvPr>
          <p:cNvSpPr txBox="1"/>
          <p:nvPr/>
        </p:nvSpPr>
        <p:spPr>
          <a:xfrm>
            <a:off x="723900" y="2540000"/>
            <a:ext cx="39116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50" b="1">
                <a:solidFill>
                  <a:srgbClr val="0A66C2"/>
                </a:solidFill>
                <a:latin typeface="Aptos" panose="020B0004020202020204" pitchFamily="34" charset="0"/>
              </a:rPr>
              <a:t>Core idea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7D4E9-E830-9EAC-E199-E85B843FD436}"/>
              </a:ext>
            </a:extLst>
          </p:cNvPr>
          <p:cNvSpPr txBox="1"/>
          <p:nvPr/>
        </p:nvSpPr>
        <p:spPr>
          <a:xfrm>
            <a:off x="723900" y="2794000"/>
            <a:ext cx="3911600" cy="30675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30">
                <a:solidFill>
                  <a:srgbClr val="334155"/>
                </a:solidFill>
                <a:latin typeface="Aptos" panose="020B0004020202020204" pitchFamily="34" charset="0"/>
              </a:rPr>
              <a:t>Split the output matrix C into independent column tiles. Each tile is assigned to a thread, and the thread calls the selected RVV or IME micro-kernel.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96F2CC-789A-6FBD-41AA-79AD93F2403A}"/>
              </a:ext>
            </a:extLst>
          </p:cNvPr>
          <p:cNvSpPr/>
          <p:nvPr/>
        </p:nvSpPr>
        <p:spPr>
          <a:xfrm>
            <a:off x="558800" y="4064000"/>
            <a:ext cx="15240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098D46-4190-1946-49B7-DC8D10573A73}"/>
              </a:ext>
            </a:extLst>
          </p:cNvPr>
          <p:cNvSpPr txBox="1"/>
          <p:nvPr/>
        </p:nvSpPr>
        <p:spPr>
          <a:xfrm>
            <a:off x="558800" y="4127500"/>
            <a:ext cx="15240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ZVL256 kernels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1BDF2-68EF-B03C-37E2-40DAE069E3FF}"/>
              </a:ext>
            </a:extLst>
          </p:cNvPr>
          <p:cNvSpPr/>
          <p:nvPr/>
        </p:nvSpPr>
        <p:spPr>
          <a:xfrm>
            <a:off x="2260600" y="4064000"/>
            <a:ext cx="1333500" cy="3048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194ED1-035A-1F00-8AB2-E8515F1F4F40}"/>
              </a:ext>
            </a:extLst>
          </p:cNvPr>
          <p:cNvSpPr txBox="1"/>
          <p:nvPr/>
        </p:nvSpPr>
        <p:spPr>
          <a:xfrm>
            <a:off x="2260600" y="4127500"/>
            <a:ext cx="13335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tile_N = 32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9B12D8-EE52-789F-FEFC-D8EFDF1A7BF3}"/>
              </a:ext>
            </a:extLst>
          </p:cNvPr>
          <p:cNvSpPr/>
          <p:nvPr/>
        </p:nvSpPr>
        <p:spPr>
          <a:xfrm>
            <a:off x="3759200" y="4064000"/>
            <a:ext cx="1498600" cy="3048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1D5777-4688-437E-C2C9-CA0A3E107ED8}"/>
              </a:ext>
            </a:extLst>
          </p:cNvPr>
          <p:cNvSpPr txBox="1"/>
          <p:nvPr/>
        </p:nvSpPr>
        <p:spPr>
          <a:xfrm>
            <a:off x="3759200" y="4127500"/>
            <a:ext cx="1498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1024^3 GEMM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58C160-F65F-B1BC-2A7E-C4DB5E06E163}"/>
              </a:ext>
            </a:extLst>
          </p:cNvPr>
          <p:cNvSpPr/>
          <p:nvPr/>
        </p:nvSpPr>
        <p:spPr>
          <a:xfrm>
            <a:off x="6350000" y="1676400"/>
            <a:ext cx="4318000" cy="3302000"/>
          </a:xfrm>
          <a:prstGeom prst="rect">
            <a:avLst/>
          </a:prstGeom>
          <a:solidFill>
            <a:srgbClr val="F8FAFC"/>
          </a:solidFill>
          <a:ln w="1016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56D571-D1B8-8744-D5AD-2F08A1ED9BFE}"/>
              </a:ext>
            </a:extLst>
          </p:cNvPr>
          <p:cNvSpPr txBox="1"/>
          <p:nvPr/>
        </p:nvSpPr>
        <p:spPr>
          <a:xfrm>
            <a:off x="6654800" y="1955800"/>
            <a:ext cx="3302000" cy="220573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100" b="1">
                <a:solidFill>
                  <a:srgbClr val="111827"/>
                </a:solidFill>
                <a:latin typeface="Aptos" panose="020B0004020202020204" pitchFamily="34" charset="0"/>
              </a:rPr>
              <a:t>Execution pipeline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06BDC2-92B7-9CF4-46E8-68E5626909EC}"/>
              </a:ext>
            </a:extLst>
          </p:cNvPr>
          <p:cNvSpPr/>
          <p:nvPr/>
        </p:nvSpPr>
        <p:spPr>
          <a:xfrm>
            <a:off x="6705600" y="2692400"/>
            <a:ext cx="787400" cy="8636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EFAA9F-9AB4-B343-C6D6-2ADBA1CA483E}"/>
              </a:ext>
            </a:extLst>
          </p:cNvPr>
          <p:cNvSpPr/>
          <p:nvPr/>
        </p:nvSpPr>
        <p:spPr>
          <a:xfrm>
            <a:off x="6705600" y="2692400"/>
            <a:ext cx="787400" cy="889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14897F-8B84-E8F3-DA00-D74A241E63B9}"/>
              </a:ext>
            </a:extLst>
          </p:cNvPr>
          <p:cNvSpPr txBox="1"/>
          <p:nvPr/>
        </p:nvSpPr>
        <p:spPr>
          <a:xfrm>
            <a:off x="6756400" y="2984500"/>
            <a:ext cx="685800" cy="392928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ptos" panose="020B0004020202020204" pitchFamily="34" charset="0"/>
              </a:rPr>
              <a:t>Existing
micro-kernels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96D2FEC-CC66-6449-06F5-F19DD601D9DA}"/>
              </a:ext>
            </a:extLst>
          </p:cNvPr>
          <p:cNvCxnSpPr/>
          <p:nvPr/>
        </p:nvCxnSpPr>
        <p:spPr>
          <a:xfrm>
            <a:off x="7518400" y="3124200"/>
            <a:ext cx="127000" cy="0"/>
          </a:xfrm>
          <a:prstGeom prst="line">
            <a:avLst/>
          </a:prstGeom>
          <a:ln w="1143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D4A8DBB-39EA-C90C-E588-C1239E903876}"/>
              </a:ext>
            </a:extLst>
          </p:cNvPr>
          <p:cNvSpPr/>
          <p:nvPr/>
        </p:nvSpPr>
        <p:spPr>
          <a:xfrm>
            <a:off x="7670800" y="2692400"/>
            <a:ext cx="787400" cy="8636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A1F604-BBEB-D9AB-E31B-1D3EA659BD17}"/>
              </a:ext>
            </a:extLst>
          </p:cNvPr>
          <p:cNvSpPr/>
          <p:nvPr/>
        </p:nvSpPr>
        <p:spPr>
          <a:xfrm>
            <a:off x="7670800" y="2692400"/>
            <a:ext cx="787400" cy="889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AE005-AFB9-8B82-EED0-A97ABEAF6AB0}"/>
              </a:ext>
            </a:extLst>
          </p:cNvPr>
          <p:cNvSpPr txBox="1"/>
          <p:nvPr/>
        </p:nvSpPr>
        <p:spPr>
          <a:xfrm>
            <a:off x="7721600" y="2984500"/>
            <a:ext cx="685800" cy="392928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ptos" panose="020B0004020202020204" pitchFamily="34" charset="0"/>
              </a:rPr>
              <a:t>OpenMP
tile scheduler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6D1F10C-6DC3-9B4C-0DD0-8CAD4E97BD38}"/>
              </a:ext>
            </a:extLst>
          </p:cNvPr>
          <p:cNvCxnSpPr/>
          <p:nvPr/>
        </p:nvCxnSpPr>
        <p:spPr>
          <a:xfrm>
            <a:off x="8483600" y="3124200"/>
            <a:ext cx="127000" cy="0"/>
          </a:xfrm>
          <a:prstGeom prst="line">
            <a:avLst/>
          </a:prstGeom>
          <a:ln w="1143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793F6CC-6769-A337-490D-FC39352546DC}"/>
              </a:ext>
            </a:extLst>
          </p:cNvPr>
          <p:cNvSpPr/>
          <p:nvPr/>
        </p:nvSpPr>
        <p:spPr>
          <a:xfrm>
            <a:off x="8636000" y="2692400"/>
            <a:ext cx="787400" cy="8636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42F2F2-49AA-98B5-7786-5AC09A1582F8}"/>
              </a:ext>
            </a:extLst>
          </p:cNvPr>
          <p:cNvSpPr/>
          <p:nvPr/>
        </p:nvSpPr>
        <p:spPr>
          <a:xfrm>
            <a:off x="8636000" y="2692400"/>
            <a:ext cx="787400" cy="889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5444CF-D23A-CD8E-AC4A-97091D379870}"/>
              </a:ext>
            </a:extLst>
          </p:cNvPr>
          <p:cNvSpPr txBox="1"/>
          <p:nvPr/>
        </p:nvSpPr>
        <p:spPr>
          <a:xfrm>
            <a:off x="8686800" y="2984500"/>
            <a:ext cx="685800" cy="27905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ptos" panose="020B0004020202020204" pitchFamily="34" charset="0"/>
              </a:rPr>
              <a:t>K1 core
domains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73F8816-80FE-E42F-E663-DF53327CE179}"/>
              </a:ext>
            </a:extLst>
          </p:cNvPr>
          <p:cNvCxnSpPr/>
          <p:nvPr/>
        </p:nvCxnSpPr>
        <p:spPr>
          <a:xfrm>
            <a:off x="9448800" y="3124200"/>
            <a:ext cx="127000" cy="0"/>
          </a:xfrm>
          <a:prstGeom prst="line">
            <a:avLst/>
          </a:prstGeom>
          <a:ln w="1143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B0A8A6E-538E-6E44-251E-D9D590E659BA}"/>
              </a:ext>
            </a:extLst>
          </p:cNvPr>
          <p:cNvSpPr/>
          <p:nvPr/>
        </p:nvSpPr>
        <p:spPr>
          <a:xfrm>
            <a:off x="9601200" y="2692400"/>
            <a:ext cx="787400" cy="863600"/>
          </a:xfrm>
          <a:prstGeom prst="rect">
            <a:avLst/>
          </a:prstGeom>
          <a:solidFill>
            <a:srgbClr val="FFFFFF"/>
          </a:solidFill>
          <a:ln w="762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F9C064-4B40-F459-5D20-92B2A7917165}"/>
              </a:ext>
            </a:extLst>
          </p:cNvPr>
          <p:cNvSpPr/>
          <p:nvPr/>
        </p:nvSpPr>
        <p:spPr>
          <a:xfrm>
            <a:off x="9601200" y="2692400"/>
            <a:ext cx="787400" cy="889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B28F42-66EC-D64E-A4BF-F221927B8CD3}"/>
              </a:ext>
            </a:extLst>
          </p:cNvPr>
          <p:cNvSpPr txBox="1"/>
          <p:nvPr/>
        </p:nvSpPr>
        <p:spPr>
          <a:xfrm>
            <a:off x="9652000" y="2984500"/>
            <a:ext cx="685800" cy="27905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40" b="1">
                <a:solidFill>
                  <a:srgbClr val="111827"/>
                </a:solidFill>
                <a:latin typeface="Aptos" panose="020B0004020202020204" pitchFamily="34" charset="0"/>
              </a:rPr>
              <a:t>CSV/log
evaluation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DD7915-CF10-3B53-D321-CACCAEC230ED}"/>
              </a:ext>
            </a:extLst>
          </p:cNvPr>
          <p:cNvSpPr txBox="1"/>
          <p:nvPr/>
        </p:nvSpPr>
        <p:spPr>
          <a:xfrm>
            <a:off x="6769100" y="3962400"/>
            <a:ext cx="35560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850">
                <a:solidFill>
                  <a:srgbClr val="64748B"/>
                </a:solidFill>
                <a:latin typeface="Aptos" panose="020B0004020202020204" pitchFamily="34" charset="0"/>
              </a:rPr>
              <a:t>The mathematical operation stays the same: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685E5C-5717-7148-2682-64B739905C2A}"/>
              </a:ext>
            </a:extLst>
          </p:cNvPr>
          <p:cNvSpPr txBox="1"/>
          <p:nvPr/>
        </p:nvSpPr>
        <p:spPr>
          <a:xfrm>
            <a:off x="6794500" y="4254500"/>
            <a:ext cx="3429000" cy="243656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pl-PL" sz="1250" b="1">
                <a:solidFill>
                  <a:srgbClr val="0A66C2"/>
                </a:solidFill>
                <a:latin typeface="Aptos" panose="020B0004020202020204" pitchFamily="34" charset="0"/>
              </a:rPr>
              <a:t>C(i,j) += sum_k A(i,k) x B(k,j)</a:t>
            </a:r>
            <a:endParaRPr lang="en-US" sz="1250" b="1">
              <a:solidFill>
                <a:srgbClr val="0A66C2"/>
              </a:solidFill>
              <a:latin typeface="Aptos" panose="020B0004020202020204" pitchFamily="34" charset="0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6B757F7-32C4-1F76-A893-521F5CCDB5E3}"/>
              </a:ext>
            </a:extLst>
          </p:cNvPr>
          <p:cNvCxnSpPr/>
          <p:nvPr/>
        </p:nvCxnSpPr>
        <p:spPr>
          <a:xfrm>
            <a:off x="533400" y="6477000"/>
            <a:ext cx="11125200" cy="0"/>
          </a:xfrm>
          <a:prstGeom prst="line">
            <a:avLst/>
          </a:prstGeom>
          <a:ln w="6350">
            <a:solidFill>
              <a:srgbClr val="D6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395DA43-8FE4-8E44-CD55-757431E2A008}"/>
              </a:ext>
            </a:extLst>
          </p:cNvPr>
          <p:cNvSpPr txBox="1"/>
          <p:nvPr/>
        </p:nvSpPr>
        <p:spPr>
          <a:xfrm>
            <a:off x="533400" y="6553200"/>
            <a:ext cx="9906000" cy="13747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560">
                <a:solidFill>
                  <a:srgbClr val="64748B"/>
                </a:solidFill>
                <a:latin typeface="Aptos" panose="020B0004020202020204" pitchFamily="34" charset="0"/>
              </a:rPr>
              <a:t>Main files: scripts/run_k1_heterogeneous_openmp_gemm_1024.sh, scripts/run_openmp_tiled_gemm_mode.sh, src/openmp_tiled_gemm_benchmark.c</a:t>
            </a:r>
          </a:p>
        </p:txBody>
      </p:sp>
    </p:spTree>
    <p:extLst>
      <p:ext uri="{BB962C8B-B14F-4D97-AF65-F5344CB8AC3E}">
        <p14:creationId xmlns:p14="http://schemas.microsoft.com/office/powerpoint/2010/main" val="710556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B1B889-38DE-9546-DBD4-DF43FEE4FE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4070C0-A536-ACE7-AEFC-1DF047AD4F66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1F5F9"/>
          </a:solidFill>
          <a:ln w="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575AD-FFDE-F421-6593-69A469B56E1A}"/>
              </a:ext>
            </a:extLst>
          </p:cNvPr>
          <p:cNvSpPr txBox="1"/>
          <p:nvPr/>
        </p:nvSpPr>
        <p:spPr>
          <a:xfrm>
            <a:off x="482600" y="114300"/>
            <a:ext cx="9271000" cy="25442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320" b="1">
                <a:solidFill>
                  <a:srgbClr val="111827"/>
                </a:solidFill>
                <a:latin typeface="Aptos" panose="020B0004020202020204" pitchFamily="34" charset="0"/>
              </a:rPr>
              <a:t>Single-Core vs OpenMP Multi-Core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84E654-322B-0D68-C2B3-4A47A64FD0AB}"/>
              </a:ext>
            </a:extLst>
          </p:cNvPr>
          <p:cNvSpPr txBox="1"/>
          <p:nvPr/>
        </p:nvSpPr>
        <p:spPr>
          <a:xfrm>
            <a:off x="482600" y="368300"/>
            <a:ext cx="9652000" cy="149785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40">
                <a:solidFill>
                  <a:srgbClr val="64748B"/>
                </a:solidFill>
                <a:latin typeface="Aptos" panose="020B0004020202020204" pitchFamily="34" charset="0"/>
              </a:rPr>
              <a:t>What changes from micro-kernel characterization to board-level execution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3858E-A5D5-8BCF-BBBD-BA9E107813A5}"/>
              </a:ext>
            </a:extLst>
          </p:cNvPr>
          <p:cNvSpPr txBox="1"/>
          <p:nvPr/>
        </p:nvSpPr>
        <p:spPr>
          <a:xfrm>
            <a:off x="11303000" y="165100"/>
            <a:ext cx="431800" cy="16671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50" b="1">
                <a:solidFill>
                  <a:srgbClr val="0A66C2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A9A231-8BE6-5325-9EA0-DC4D922D6A25}"/>
              </a:ext>
            </a:extLst>
          </p:cNvPr>
          <p:cNvCxnSpPr/>
          <p:nvPr/>
        </p:nvCxnSpPr>
        <p:spPr>
          <a:xfrm>
            <a:off x="482600" y="6477000"/>
            <a:ext cx="11226800" cy="0"/>
          </a:xfrm>
          <a:prstGeom prst="line">
            <a:avLst/>
          </a:prstGeom>
          <a:ln w="6350">
            <a:solidFill>
              <a:srgbClr val="D6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6FB6CE7-AC98-AF6C-B948-EE8F1A389BA2}"/>
              </a:ext>
            </a:extLst>
          </p:cNvPr>
          <p:cNvSpPr txBox="1"/>
          <p:nvPr/>
        </p:nvSpPr>
        <p:spPr>
          <a:xfrm>
            <a:off x="482600" y="6540500"/>
            <a:ext cx="5334000" cy="13901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570">
                <a:solidFill>
                  <a:srgbClr val="64748B"/>
                </a:solidFill>
                <a:latin typeface="Aptos" panose="020B0004020202020204" pitchFamily="34" charset="0"/>
              </a:rPr>
              <a:t>Heterogeneous RVV-IME OpenMP GEMM | RISC-V K1 | ZVL256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380A03-2510-5A02-98BF-33F92D0400DB}"/>
              </a:ext>
            </a:extLst>
          </p:cNvPr>
          <p:cNvSpPr txBox="1"/>
          <p:nvPr/>
        </p:nvSpPr>
        <p:spPr>
          <a:xfrm>
            <a:off x="889000" y="1041400"/>
            <a:ext cx="4572000" cy="25135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Single-Core Kernel Characterization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1544B-1AC7-A28F-F245-4AAD20E2538A}"/>
              </a:ext>
            </a:extLst>
          </p:cNvPr>
          <p:cNvSpPr txBox="1"/>
          <p:nvPr/>
        </p:nvSpPr>
        <p:spPr>
          <a:xfrm>
            <a:off x="6794500" y="1041400"/>
            <a:ext cx="4572000" cy="25135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300" b="1">
                <a:solidFill>
                  <a:srgbClr val="111827"/>
                </a:solidFill>
                <a:latin typeface="Aptos" panose="020B0004020202020204" pitchFamily="34" charset="0"/>
              </a:rPr>
              <a:t>OpenMP Board-Level Execution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DF561D-8A10-7432-22CB-559E8A15825F}"/>
              </a:ext>
            </a:extLst>
          </p:cNvPr>
          <p:cNvSpPr/>
          <p:nvPr/>
        </p:nvSpPr>
        <p:spPr>
          <a:xfrm>
            <a:off x="914400" y="1587500"/>
            <a:ext cx="4254500" cy="3302000"/>
          </a:xfrm>
          <a:prstGeom prst="rect">
            <a:avLst/>
          </a:prstGeom>
          <a:solidFill>
            <a:srgbClr val="F8FAFC"/>
          </a:solidFill>
          <a:ln w="1016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21AF7A-9E82-BC69-9D08-C2508C38C9E0}"/>
              </a:ext>
            </a:extLst>
          </p:cNvPr>
          <p:cNvSpPr/>
          <p:nvPr/>
        </p:nvSpPr>
        <p:spPr>
          <a:xfrm>
            <a:off x="1333500" y="2006600"/>
            <a:ext cx="12065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3447D-247A-82AC-AD6D-FAB22461A121}"/>
              </a:ext>
            </a:extLst>
          </p:cNvPr>
          <p:cNvSpPr txBox="1"/>
          <p:nvPr/>
        </p:nvSpPr>
        <p:spPr>
          <a:xfrm>
            <a:off x="1333500" y="2070100"/>
            <a:ext cx="12065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1 thread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7ED910C-8BF5-DBE6-A64F-01BD9C881E14}"/>
              </a:ext>
            </a:extLst>
          </p:cNvPr>
          <p:cNvCxnSpPr/>
          <p:nvPr/>
        </p:nvCxnSpPr>
        <p:spPr>
          <a:xfrm>
            <a:off x="2603500" y="2159000"/>
            <a:ext cx="635000" cy="0"/>
          </a:xfrm>
          <a:prstGeom prst="line">
            <a:avLst/>
          </a:prstGeom>
          <a:ln w="12700">
            <a:solidFill>
              <a:srgbClr val="64748B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67840CA-126C-704C-93E1-BB7D0AAAA064}"/>
              </a:ext>
            </a:extLst>
          </p:cNvPr>
          <p:cNvSpPr/>
          <p:nvPr/>
        </p:nvSpPr>
        <p:spPr>
          <a:xfrm>
            <a:off x="3327400" y="2006600"/>
            <a:ext cx="12065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43925-8C45-7342-3EB3-91A97E52C49D}"/>
              </a:ext>
            </a:extLst>
          </p:cNvPr>
          <p:cNvSpPr txBox="1"/>
          <p:nvPr/>
        </p:nvSpPr>
        <p:spPr>
          <a:xfrm>
            <a:off x="3327400" y="2070100"/>
            <a:ext cx="12065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1 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E1DE6A-6AAF-6C33-BB1D-D491F5F191F9}"/>
              </a:ext>
            </a:extLst>
          </p:cNvPr>
          <p:cNvSpPr/>
          <p:nvPr/>
        </p:nvSpPr>
        <p:spPr>
          <a:xfrm>
            <a:off x="1651000" y="2984500"/>
            <a:ext cx="304800" cy="8890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78BAB-F5E1-91EA-B34F-C228DDB9FC3A}"/>
              </a:ext>
            </a:extLst>
          </p:cNvPr>
          <p:cNvSpPr/>
          <p:nvPr/>
        </p:nvSpPr>
        <p:spPr>
          <a:xfrm>
            <a:off x="2082800" y="2984500"/>
            <a:ext cx="304800" cy="889000"/>
          </a:xfrm>
          <a:prstGeom prst="rect">
            <a:avLst/>
          </a:prstGeom>
          <a:solidFill>
            <a:srgbClr val="EAF2FF"/>
          </a:solidFill>
          <a:ln w="508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90E892-D9AB-B260-882C-5E92B3291960}"/>
              </a:ext>
            </a:extLst>
          </p:cNvPr>
          <p:cNvSpPr/>
          <p:nvPr/>
        </p:nvSpPr>
        <p:spPr>
          <a:xfrm>
            <a:off x="2514600" y="2984500"/>
            <a:ext cx="304800" cy="8890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E3B17D-7FF8-8CAF-6CB9-4A587C72F9F7}"/>
              </a:ext>
            </a:extLst>
          </p:cNvPr>
          <p:cNvSpPr/>
          <p:nvPr/>
        </p:nvSpPr>
        <p:spPr>
          <a:xfrm>
            <a:off x="2946400" y="2984500"/>
            <a:ext cx="304800" cy="889000"/>
          </a:xfrm>
          <a:prstGeom prst="rect">
            <a:avLst/>
          </a:prstGeom>
          <a:solidFill>
            <a:srgbClr val="EAF2FF"/>
          </a:solidFill>
          <a:ln w="508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638838-9A79-BEEA-5CDE-5CE1F26028FF}"/>
              </a:ext>
            </a:extLst>
          </p:cNvPr>
          <p:cNvSpPr/>
          <p:nvPr/>
        </p:nvSpPr>
        <p:spPr>
          <a:xfrm>
            <a:off x="3378200" y="2984500"/>
            <a:ext cx="304800" cy="889000"/>
          </a:xfrm>
          <a:prstGeom prst="rect">
            <a:avLst/>
          </a:prstGeom>
          <a:solidFill>
            <a:srgbClr val="FFFFFF"/>
          </a:solidFill>
          <a:ln w="508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F68989-4644-8152-9AC9-04AA4B0216A9}"/>
              </a:ext>
            </a:extLst>
          </p:cNvPr>
          <p:cNvSpPr/>
          <p:nvPr/>
        </p:nvSpPr>
        <p:spPr>
          <a:xfrm>
            <a:off x="3810000" y="2984500"/>
            <a:ext cx="304800" cy="889000"/>
          </a:xfrm>
          <a:prstGeom prst="rect">
            <a:avLst/>
          </a:prstGeom>
          <a:solidFill>
            <a:srgbClr val="EAF2FF"/>
          </a:solidFill>
          <a:ln w="508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C50EE1-4B51-8659-B8FC-4B858CC7BAF6}"/>
              </a:ext>
            </a:extLst>
          </p:cNvPr>
          <p:cNvSpPr txBox="1"/>
          <p:nvPr/>
        </p:nvSpPr>
        <p:spPr>
          <a:xfrm>
            <a:off x="1397000" y="4127500"/>
            <a:ext cx="3175000" cy="189796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334155"/>
                </a:solidFill>
                <a:latin typeface="Aptos" panose="020B0004020202020204" pitchFamily="34" charset="0"/>
              </a:rPr>
              <a:t>Tiles are processed one after another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60E22D-EF19-02DF-F22A-27C416CD7E33}"/>
              </a:ext>
            </a:extLst>
          </p:cNvPr>
          <p:cNvSpPr txBox="1"/>
          <p:nvPr/>
        </p:nvSpPr>
        <p:spPr>
          <a:xfrm>
            <a:off x="1270000" y="4495800"/>
            <a:ext cx="3492500" cy="179023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830">
                <a:solidFill>
                  <a:srgbClr val="64748B"/>
                </a:solidFill>
                <a:latin typeface="Aptos" panose="020B0004020202020204" pitchFamily="34" charset="0"/>
              </a:rPr>
              <a:t>Purpose: isolate one kernel variant without inter-core scheduling effects.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B06B9B-42D0-0149-8D41-56EEF95D3AEA}"/>
              </a:ext>
            </a:extLst>
          </p:cNvPr>
          <p:cNvSpPr/>
          <p:nvPr/>
        </p:nvSpPr>
        <p:spPr>
          <a:xfrm>
            <a:off x="6794500" y="1587500"/>
            <a:ext cx="4254500" cy="3302000"/>
          </a:xfrm>
          <a:prstGeom prst="rect">
            <a:avLst/>
          </a:prstGeom>
          <a:solidFill>
            <a:srgbClr val="F8FAFC"/>
          </a:solidFill>
          <a:ln w="1016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DA8052-58A1-81D0-09B7-90EB7F419ED4}"/>
              </a:ext>
            </a:extLst>
          </p:cNvPr>
          <p:cNvSpPr/>
          <p:nvPr/>
        </p:nvSpPr>
        <p:spPr>
          <a:xfrm>
            <a:off x="7112000" y="1955800"/>
            <a:ext cx="3556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AC501C-5908-8354-A9BE-762E3F9334FA}"/>
              </a:ext>
            </a:extLst>
          </p:cNvPr>
          <p:cNvSpPr txBox="1"/>
          <p:nvPr/>
        </p:nvSpPr>
        <p:spPr>
          <a:xfrm>
            <a:off x="7112000" y="2019300"/>
            <a:ext cx="355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1DB757-84CA-A6A1-DC66-86E447EB1B4F}"/>
              </a:ext>
            </a:extLst>
          </p:cNvPr>
          <p:cNvSpPr/>
          <p:nvPr/>
        </p:nvSpPr>
        <p:spPr>
          <a:xfrm>
            <a:off x="7556500" y="1955800"/>
            <a:ext cx="3556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52B3CA-77B9-756F-A49B-E303E112835C}"/>
              </a:ext>
            </a:extLst>
          </p:cNvPr>
          <p:cNvSpPr txBox="1"/>
          <p:nvPr/>
        </p:nvSpPr>
        <p:spPr>
          <a:xfrm>
            <a:off x="7556500" y="2019300"/>
            <a:ext cx="355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46A6A99-8290-F312-C132-240E13E18684}"/>
              </a:ext>
            </a:extLst>
          </p:cNvPr>
          <p:cNvSpPr/>
          <p:nvPr/>
        </p:nvSpPr>
        <p:spPr>
          <a:xfrm>
            <a:off x="8001000" y="1955800"/>
            <a:ext cx="3556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BDA0D16-6703-3FA7-7440-27BE2837AE9E}"/>
              </a:ext>
            </a:extLst>
          </p:cNvPr>
          <p:cNvSpPr txBox="1"/>
          <p:nvPr/>
        </p:nvSpPr>
        <p:spPr>
          <a:xfrm>
            <a:off x="8001000" y="2019300"/>
            <a:ext cx="355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5F0D3F-668E-EF72-F3E5-E5CF49853FE7}"/>
              </a:ext>
            </a:extLst>
          </p:cNvPr>
          <p:cNvSpPr/>
          <p:nvPr/>
        </p:nvSpPr>
        <p:spPr>
          <a:xfrm>
            <a:off x="8445500" y="1955800"/>
            <a:ext cx="3556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C23045-EDAB-E3F0-75B7-4260DB5C43E1}"/>
              </a:ext>
            </a:extLst>
          </p:cNvPr>
          <p:cNvSpPr txBox="1"/>
          <p:nvPr/>
        </p:nvSpPr>
        <p:spPr>
          <a:xfrm>
            <a:off x="8445500" y="2019300"/>
            <a:ext cx="355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8689511-A3BD-9EB7-D40F-2E69575C72BA}"/>
              </a:ext>
            </a:extLst>
          </p:cNvPr>
          <p:cNvSpPr/>
          <p:nvPr/>
        </p:nvSpPr>
        <p:spPr>
          <a:xfrm>
            <a:off x="8890000" y="1955800"/>
            <a:ext cx="3556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9F938BE-9364-E861-6BC4-A3D596A622B4}"/>
              </a:ext>
            </a:extLst>
          </p:cNvPr>
          <p:cNvSpPr txBox="1"/>
          <p:nvPr/>
        </p:nvSpPr>
        <p:spPr>
          <a:xfrm>
            <a:off x="8890000" y="2019300"/>
            <a:ext cx="355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521673-18B6-3434-BBA3-349D156B4BBF}"/>
              </a:ext>
            </a:extLst>
          </p:cNvPr>
          <p:cNvSpPr/>
          <p:nvPr/>
        </p:nvSpPr>
        <p:spPr>
          <a:xfrm>
            <a:off x="9334500" y="1955800"/>
            <a:ext cx="3556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2A5A67-0BAF-A549-CAAE-9AA2E6B1E90A}"/>
              </a:ext>
            </a:extLst>
          </p:cNvPr>
          <p:cNvSpPr txBox="1"/>
          <p:nvPr/>
        </p:nvSpPr>
        <p:spPr>
          <a:xfrm>
            <a:off x="9334500" y="2019300"/>
            <a:ext cx="355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9F2BF8-3E9A-8A55-DC5A-C82A5C0EFDDE}"/>
              </a:ext>
            </a:extLst>
          </p:cNvPr>
          <p:cNvSpPr/>
          <p:nvPr/>
        </p:nvSpPr>
        <p:spPr>
          <a:xfrm>
            <a:off x="9779000" y="1955800"/>
            <a:ext cx="3556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48F247-8354-73AF-80F4-8F953D87A03F}"/>
              </a:ext>
            </a:extLst>
          </p:cNvPr>
          <p:cNvSpPr txBox="1"/>
          <p:nvPr/>
        </p:nvSpPr>
        <p:spPr>
          <a:xfrm>
            <a:off x="9779000" y="2019300"/>
            <a:ext cx="355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0057BFC-0696-8245-1A52-53F4074DE670}"/>
              </a:ext>
            </a:extLst>
          </p:cNvPr>
          <p:cNvSpPr/>
          <p:nvPr/>
        </p:nvSpPr>
        <p:spPr>
          <a:xfrm>
            <a:off x="10223500" y="1955800"/>
            <a:ext cx="3556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EC2914-91F3-E12A-8AAD-85C83BA1A841}"/>
              </a:ext>
            </a:extLst>
          </p:cNvPr>
          <p:cNvSpPr txBox="1"/>
          <p:nvPr/>
        </p:nvSpPr>
        <p:spPr>
          <a:xfrm>
            <a:off x="10223500" y="2019300"/>
            <a:ext cx="3556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c7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68C7FF-C4B9-4104-DB1C-BAB0E41E1A92}"/>
              </a:ext>
            </a:extLst>
          </p:cNvPr>
          <p:cNvSpPr/>
          <p:nvPr/>
        </p:nvSpPr>
        <p:spPr>
          <a:xfrm>
            <a:off x="7429500" y="2984500"/>
            <a:ext cx="152400" cy="736600"/>
          </a:xfrm>
          <a:prstGeom prst="rect">
            <a:avLst/>
          </a:prstGeom>
          <a:solidFill>
            <a:srgbClr val="DDEEFF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FF74A3-0D66-E8E9-7ABC-EC885EEF2667}"/>
              </a:ext>
            </a:extLst>
          </p:cNvPr>
          <p:cNvSpPr/>
          <p:nvPr/>
        </p:nvSpPr>
        <p:spPr>
          <a:xfrm>
            <a:off x="7658100" y="2984500"/>
            <a:ext cx="152400" cy="736600"/>
          </a:xfrm>
          <a:prstGeom prst="rect">
            <a:avLst/>
          </a:prstGeom>
          <a:solidFill>
            <a:srgbClr val="DDEEFF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195B152-58E3-B090-869E-BDCE0AA788BB}"/>
              </a:ext>
            </a:extLst>
          </p:cNvPr>
          <p:cNvSpPr/>
          <p:nvPr/>
        </p:nvSpPr>
        <p:spPr>
          <a:xfrm>
            <a:off x="7886700" y="2984500"/>
            <a:ext cx="152400" cy="736600"/>
          </a:xfrm>
          <a:prstGeom prst="rect">
            <a:avLst/>
          </a:prstGeom>
          <a:solidFill>
            <a:srgbClr val="DDEEFF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FD887E3-E698-526A-172F-FCFA5723AAF7}"/>
              </a:ext>
            </a:extLst>
          </p:cNvPr>
          <p:cNvSpPr/>
          <p:nvPr/>
        </p:nvSpPr>
        <p:spPr>
          <a:xfrm>
            <a:off x="8115300" y="2984500"/>
            <a:ext cx="152400" cy="736600"/>
          </a:xfrm>
          <a:prstGeom prst="rect">
            <a:avLst/>
          </a:prstGeom>
          <a:solidFill>
            <a:srgbClr val="DDEEFF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7680D2-F51B-73A2-C8BB-A0581BEAA2BA}"/>
              </a:ext>
            </a:extLst>
          </p:cNvPr>
          <p:cNvSpPr/>
          <p:nvPr/>
        </p:nvSpPr>
        <p:spPr>
          <a:xfrm>
            <a:off x="8343900" y="2984500"/>
            <a:ext cx="152400" cy="736600"/>
          </a:xfrm>
          <a:prstGeom prst="rect">
            <a:avLst/>
          </a:prstGeom>
          <a:solidFill>
            <a:srgbClr val="DDEEFF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9ED0F83-5213-3B30-990B-2E53629F4D49}"/>
              </a:ext>
            </a:extLst>
          </p:cNvPr>
          <p:cNvSpPr/>
          <p:nvPr/>
        </p:nvSpPr>
        <p:spPr>
          <a:xfrm>
            <a:off x="8572500" y="2984500"/>
            <a:ext cx="152400" cy="736600"/>
          </a:xfrm>
          <a:prstGeom prst="rect">
            <a:avLst/>
          </a:prstGeom>
          <a:solidFill>
            <a:srgbClr val="DDEEFF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870AA47-4699-2444-FEC1-ED3A68E54374}"/>
              </a:ext>
            </a:extLst>
          </p:cNvPr>
          <p:cNvSpPr/>
          <p:nvPr/>
        </p:nvSpPr>
        <p:spPr>
          <a:xfrm>
            <a:off x="8801100" y="2984500"/>
            <a:ext cx="152400" cy="736600"/>
          </a:xfrm>
          <a:prstGeom prst="rect">
            <a:avLst/>
          </a:prstGeom>
          <a:solidFill>
            <a:srgbClr val="DDEEFF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EEF7252-AA68-DF94-4096-1A87D4A6CAE4}"/>
              </a:ext>
            </a:extLst>
          </p:cNvPr>
          <p:cNvSpPr/>
          <p:nvPr/>
        </p:nvSpPr>
        <p:spPr>
          <a:xfrm>
            <a:off x="9029700" y="2984500"/>
            <a:ext cx="152400" cy="736600"/>
          </a:xfrm>
          <a:prstGeom prst="rect">
            <a:avLst/>
          </a:prstGeom>
          <a:solidFill>
            <a:srgbClr val="FEE2E2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585D59B-CE5E-3382-D0C8-BE657005F852}"/>
              </a:ext>
            </a:extLst>
          </p:cNvPr>
          <p:cNvSpPr/>
          <p:nvPr/>
        </p:nvSpPr>
        <p:spPr>
          <a:xfrm>
            <a:off x="9258300" y="2984500"/>
            <a:ext cx="152400" cy="736600"/>
          </a:xfrm>
          <a:prstGeom prst="rect">
            <a:avLst/>
          </a:prstGeom>
          <a:solidFill>
            <a:srgbClr val="FEE2E2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73552BC-EBD9-9994-8705-BF95C9303CE3}"/>
              </a:ext>
            </a:extLst>
          </p:cNvPr>
          <p:cNvSpPr/>
          <p:nvPr/>
        </p:nvSpPr>
        <p:spPr>
          <a:xfrm>
            <a:off x="9486900" y="2984500"/>
            <a:ext cx="152400" cy="736600"/>
          </a:xfrm>
          <a:prstGeom prst="rect">
            <a:avLst/>
          </a:prstGeom>
          <a:solidFill>
            <a:srgbClr val="FEE2E2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041A38-9385-AE36-AA05-53B12DA980E4}"/>
              </a:ext>
            </a:extLst>
          </p:cNvPr>
          <p:cNvSpPr/>
          <p:nvPr/>
        </p:nvSpPr>
        <p:spPr>
          <a:xfrm>
            <a:off x="9715500" y="2984500"/>
            <a:ext cx="152400" cy="736600"/>
          </a:xfrm>
          <a:prstGeom prst="rect">
            <a:avLst/>
          </a:prstGeom>
          <a:solidFill>
            <a:srgbClr val="FEE2E2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9A69F43-9B21-58C0-322E-286069C02E12}"/>
              </a:ext>
            </a:extLst>
          </p:cNvPr>
          <p:cNvSpPr/>
          <p:nvPr/>
        </p:nvSpPr>
        <p:spPr>
          <a:xfrm>
            <a:off x="9944100" y="2984500"/>
            <a:ext cx="152400" cy="736600"/>
          </a:xfrm>
          <a:prstGeom prst="rect">
            <a:avLst/>
          </a:prstGeom>
          <a:solidFill>
            <a:srgbClr val="FEE2E2"/>
          </a:solidFill>
          <a:ln w="381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12AEBB-9974-C995-56FB-D3A69B085553}"/>
              </a:ext>
            </a:extLst>
          </p:cNvPr>
          <p:cNvSpPr txBox="1"/>
          <p:nvPr/>
        </p:nvSpPr>
        <p:spPr>
          <a:xfrm>
            <a:off x="7264400" y="4013200"/>
            <a:ext cx="3365500" cy="189796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900" b="1">
                <a:solidFill>
                  <a:srgbClr val="334155"/>
                </a:solidFill>
                <a:latin typeface="Aptos" panose="020B0004020202020204" pitchFamily="34" charset="0"/>
              </a:rPr>
              <a:t>Different cores compute different C-column tiles in parallel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C84FF3-4BC3-DB7C-7191-581819BD81B9}"/>
              </a:ext>
            </a:extLst>
          </p:cNvPr>
          <p:cNvSpPr txBox="1"/>
          <p:nvPr/>
        </p:nvSpPr>
        <p:spPr>
          <a:xfrm>
            <a:off x="7264400" y="4495800"/>
            <a:ext cx="3365500" cy="30675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830">
                <a:solidFill>
                  <a:srgbClr val="64748B"/>
                </a:solidFill>
                <a:latin typeface="Aptos" panose="020B0004020202020204" pitchFamily="34" charset="0"/>
              </a:rPr>
              <a:t>Purpose: measure full-board throughput with RVV and IME domains active.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A6DCB92-371B-3357-EFFB-FF85ABBEBF63}"/>
              </a:ext>
            </a:extLst>
          </p:cNvPr>
          <p:cNvSpPr/>
          <p:nvPr/>
        </p:nvSpPr>
        <p:spPr>
          <a:xfrm>
            <a:off x="2159000" y="5334000"/>
            <a:ext cx="7874000" cy="6604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FC695E6-7B29-1E44-97C8-853BA79A1821}"/>
              </a:ext>
            </a:extLst>
          </p:cNvPr>
          <p:cNvSpPr/>
          <p:nvPr/>
        </p:nvSpPr>
        <p:spPr>
          <a:xfrm>
            <a:off x="2159000" y="5334000"/>
            <a:ext cx="50800" cy="6604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127088-B18C-44FE-1647-470DD3B47FBD}"/>
              </a:ext>
            </a:extLst>
          </p:cNvPr>
          <p:cNvSpPr txBox="1"/>
          <p:nvPr/>
        </p:nvSpPr>
        <p:spPr>
          <a:xfrm>
            <a:off x="2324100" y="5461000"/>
            <a:ext cx="75946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50" b="1">
                <a:solidFill>
                  <a:srgbClr val="0F766E"/>
                </a:solidFill>
                <a:latin typeface="Aptos" panose="020B0004020202020204" pitchFamily="34" charset="0"/>
              </a:rPr>
              <a:t>Key difference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03BD921-8FA7-99F8-8572-8F3C4905FF6E}"/>
              </a:ext>
            </a:extLst>
          </p:cNvPr>
          <p:cNvSpPr txBox="1"/>
          <p:nvPr/>
        </p:nvSpPr>
        <p:spPr>
          <a:xfrm>
            <a:off x="2324100" y="5715000"/>
            <a:ext cx="7594600" cy="179023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30">
                <a:solidFill>
                  <a:srgbClr val="334155"/>
                </a:solidFill>
                <a:latin typeface="Aptos" panose="020B0004020202020204" pitchFamily="34" charset="0"/>
              </a:rPr>
              <a:t>Single-core testing measures one kernel in isolation. OpenMP testing measures cooperative multi-core GEMM on the K1 board.</a:t>
            </a:r>
          </a:p>
        </p:txBody>
      </p:sp>
    </p:spTree>
    <p:extLst>
      <p:ext uri="{BB962C8B-B14F-4D97-AF65-F5344CB8AC3E}">
        <p14:creationId xmlns:p14="http://schemas.microsoft.com/office/powerpoint/2010/main" val="107741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DB1DB4-AE5F-6D8B-8877-11FE8B0D8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71D656-A6C0-52F1-53B4-A07FA9CC90C6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1F5F9"/>
          </a:solidFill>
          <a:ln w="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DCDD8-AA5C-C7AF-1BFA-BFD6DC060348}"/>
              </a:ext>
            </a:extLst>
          </p:cNvPr>
          <p:cNvSpPr txBox="1"/>
          <p:nvPr/>
        </p:nvSpPr>
        <p:spPr>
          <a:xfrm>
            <a:off x="482600" y="114300"/>
            <a:ext cx="9271000" cy="25442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320" b="1">
                <a:solidFill>
                  <a:srgbClr val="111827"/>
                </a:solidFill>
                <a:latin typeface="Aptos" panose="020B0004020202020204" pitchFamily="34" charset="0"/>
              </a:rPr>
              <a:t>Tiling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373C8B-1A4B-468C-86CC-0ABCBF5930FD}"/>
              </a:ext>
            </a:extLst>
          </p:cNvPr>
          <p:cNvSpPr txBox="1"/>
          <p:nvPr/>
        </p:nvSpPr>
        <p:spPr>
          <a:xfrm>
            <a:off x="482600" y="368300"/>
            <a:ext cx="9652000" cy="149785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40">
                <a:solidFill>
                  <a:srgbClr val="64748B"/>
                </a:solidFill>
                <a:latin typeface="Aptos" panose="020B0004020202020204" pitchFamily="34" charset="0"/>
              </a:rPr>
              <a:t>Column tiles are independent work units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D5A7F-E1FC-B55B-ACA4-174DAB778087}"/>
              </a:ext>
            </a:extLst>
          </p:cNvPr>
          <p:cNvSpPr txBox="1"/>
          <p:nvPr/>
        </p:nvSpPr>
        <p:spPr>
          <a:xfrm>
            <a:off x="11303000" y="165100"/>
            <a:ext cx="431800" cy="16671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50" b="1">
                <a:solidFill>
                  <a:srgbClr val="0A66C2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074B6B-C7BB-34A1-DA1A-25EA73AB0773}"/>
              </a:ext>
            </a:extLst>
          </p:cNvPr>
          <p:cNvCxnSpPr/>
          <p:nvPr/>
        </p:nvCxnSpPr>
        <p:spPr>
          <a:xfrm>
            <a:off x="482600" y="6477000"/>
            <a:ext cx="11226800" cy="0"/>
          </a:xfrm>
          <a:prstGeom prst="line">
            <a:avLst/>
          </a:prstGeom>
          <a:ln w="6350">
            <a:solidFill>
              <a:srgbClr val="D6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0A66A7-8CD1-55F3-C16A-80845764A5D3}"/>
              </a:ext>
            </a:extLst>
          </p:cNvPr>
          <p:cNvSpPr txBox="1"/>
          <p:nvPr/>
        </p:nvSpPr>
        <p:spPr>
          <a:xfrm>
            <a:off x="482600" y="6540500"/>
            <a:ext cx="5334000" cy="13901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570">
                <a:solidFill>
                  <a:srgbClr val="64748B"/>
                </a:solidFill>
                <a:latin typeface="Aptos" panose="020B0004020202020204" pitchFamily="34" charset="0"/>
              </a:rPr>
              <a:t>Heterogeneous RVV-IME OpenMP GEMM | RISC-V K1 | ZVL256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F66B5B-6DDD-947F-65A3-135EBABB81EA}"/>
              </a:ext>
            </a:extLst>
          </p:cNvPr>
          <p:cNvSpPr txBox="1"/>
          <p:nvPr/>
        </p:nvSpPr>
        <p:spPr>
          <a:xfrm>
            <a:off x="863600" y="1016000"/>
            <a:ext cx="3302000" cy="205184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Aptos" panose="020B0004020202020204" pitchFamily="34" charset="0"/>
              </a:rPr>
              <a:t>For N = 1024 and tile_N = 32: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1F96A-0043-43B4-14B2-021CDD8CF045}"/>
              </a:ext>
            </a:extLst>
          </p:cNvPr>
          <p:cNvSpPr txBox="1"/>
          <p:nvPr/>
        </p:nvSpPr>
        <p:spPr>
          <a:xfrm>
            <a:off x="863600" y="1333500"/>
            <a:ext cx="3810000" cy="28212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500" b="1">
                <a:solidFill>
                  <a:srgbClr val="0A66C2"/>
                </a:solidFill>
                <a:latin typeface="Aptos" panose="020B0004020202020204" pitchFamily="34" charset="0"/>
              </a:rPr>
              <a:t>1024 / 32 = 32 OpenMP tiles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0CD185-D2C3-D8AB-EDCE-979819989BE1}"/>
              </a:ext>
            </a:extLst>
          </p:cNvPr>
          <p:cNvSpPr/>
          <p:nvPr/>
        </p:nvSpPr>
        <p:spPr>
          <a:xfrm>
            <a:off x="863600" y="1930400"/>
            <a:ext cx="6096000" cy="2984500"/>
          </a:xfrm>
          <a:prstGeom prst="rect">
            <a:avLst/>
          </a:prstGeom>
          <a:solidFill>
            <a:srgbClr val="F8FAFC"/>
          </a:solidFill>
          <a:ln w="1016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81931A-9666-9F62-A555-1FE5D4237D8C}"/>
              </a:ext>
            </a:extLst>
          </p:cNvPr>
          <p:cNvSpPr txBox="1"/>
          <p:nvPr/>
        </p:nvSpPr>
        <p:spPr>
          <a:xfrm>
            <a:off x="1143000" y="2159000"/>
            <a:ext cx="2032000" cy="189796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900" b="1">
                <a:solidFill>
                  <a:srgbClr val="111827"/>
                </a:solidFill>
                <a:latin typeface="Aptos" panose="020B0004020202020204" pitchFamily="34" charset="0"/>
              </a:rPr>
              <a:t>Output matrix 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E68E85-0FD2-1F9B-7627-EE1BBB3391FB}"/>
              </a:ext>
            </a:extLst>
          </p:cNvPr>
          <p:cNvSpPr/>
          <p:nvPr/>
        </p:nvSpPr>
        <p:spPr>
          <a:xfrm>
            <a:off x="1206500" y="2603500"/>
            <a:ext cx="215900" cy="685800"/>
          </a:xfrm>
          <a:prstGeom prst="rect">
            <a:avLst/>
          </a:prstGeom>
          <a:solidFill>
            <a:srgbClr val="CFE8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90D19F-514D-FA61-810C-0130EC03459D}"/>
              </a:ext>
            </a:extLst>
          </p:cNvPr>
          <p:cNvSpPr/>
          <p:nvPr/>
        </p:nvSpPr>
        <p:spPr>
          <a:xfrm>
            <a:off x="1524000" y="2603500"/>
            <a:ext cx="215900" cy="6858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76F66F-5201-E449-3049-BAFFF25B670F}"/>
              </a:ext>
            </a:extLst>
          </p:cNvPr>
          <p:cNvSpPr/>
          <p:nvPr/>
        </p:nvSpPr>
        <p:spPr>
          <a:xfrm>
            <a:off x="18415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6597C7-6A9F-8694-14ED-F05A98EA24BF}"/>
              </a:ext>
            </a:extLst>
          </p:cNvPr>
          <p:cNvSpPr/>
          <p:nvPr/>
        </p:nvSpPr>
        <p:spPr>
          <a:xfrm>
            <a:off x="21590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EEB2A47-8E89-D93A-9E87-E2E2505D5A33}"/>
              </a:ext>
            </a:extLst>
          </p:cNvPr>
          <p:cNvSpPr/>
          <p:nvPr/>
        </p:nvSpPr>
        <p:spPr>
          <a:xfrm>
            <a:off x="24765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5CADF4-D68B-913B-4868-C6BD923FAD48}"/>
              </a:ext>
            </a:extLst>
          </p:cNvPr>
          <p:cNvSpPr/>
          <p:nvPr/>
        </p:nvSpPr>
        <p:spPr>
          <a:xfrm>
            <a:off x="27940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34829B-74D2-248B-FDA5-5F4EABA50E2E}"/>
              </a:ext>
            </a:extLst>
          </p:cNvPr>
          <p:cNvSpPr/>
          <p:nvPr/>
        </p:nvSpPr>
        <p:spPr>
          <a:xfrm>
            <a:off x="3111500" y="2603500"/>
            <a:ext cx="215900" cy="685800"/>
          </a:xfrm>
          <a:prstGeom prst="rect">
            <a:avLst/>
          </a:prstGeom>
          <a:solidFill>
            <a:srgbClr val="CFE8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BA5E11-F0A5-4207-A7D5-5333F6B24FEB}"/>
              </a:ext>
            </a:extLst>
          </p:cNvPr>
          <p:cNvSpPr/>
          <p:nvPr/>
        </p:nvSpPr>
        <p:spPr>
          <a:xfrm>
            <a:off x="3429000" y="2603500"/>
            <a:ext cx="215900" cy="6858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5B951-9432-C8F4-2554-216DCCC5ED79}"/>
              </a:ext>
            </a:extLst>
          </p:cNvPr>
          <p:cNvSpPr/>
          <p:nvPr/>
        </p:nvSpPr>
        <p:spPr>
          <a:xfrm>
            <a:off x="37465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3665FB-B77A-A6B7-4A91-C83923D14982}"/>
              </a:ext>
            </a:extLst>
          </p:cNvPr>
          <p:cNvSpPr/>
          <p:nvPr/>
        </p:nvSpPr>
        <p:spPr>
          <a:xfrm>
            <a:off x="40640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5F6BC3-683A-0396-6569-E94886F68DC6}"/>
              </a:ext>
            </a:extLst>
          </p:cNvPr>
          <p:cNvSpPr/>
          <p:nvPr/>
        </p:nvSpPr>
        <p:spPr>
          <a:xfrm>
            <a:off x="43815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D2C56C-6D29-5CFF-7783-802FC796B278}"/>
              </a:ext>
            </a:extLst>
          </p:cNvPr>
          <p:cNvSpPr/>
          <p:nvPr/>
        </p:nvSpPr>
        <p:spPr>
          <a:xfrm>
            <a:off x="46990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1C155DE-3D13-EBE6-FD5E-43F43D60E27E}"/>
              </a:ext>
            </a:extLst>
          </p:cNvPr>
          <p:cNvSpPr/>
          <p:nvPr/>
        </p:nvSpPr>
        <p:spPr>
          <a:xfrm>
            <a:off x="5016500" y="2603500"/>
            <a:ext cx="215900" cy="685800"/>
          </a:xfrm>
          <a:prstGeom prst="rect">
            <a:avLst/>
          </a:prstGeom>
          <a:solidFill>
            <a:srgbClr val="CFE8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300925-D87E-DAAF-2209-D52A8257484E}"/>
              </a:ext>
            </a:extLst>
          </p:cNvPr>
          <p:cNvSpPr/>
          <p:nvPr/>
        </p:nvSpPr>
        <p:spPr>
          <a:xfrm>
            <a:off x="5334000" y="2603500"/>
            <a:ext cx="215900" cy="6858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598D3D0-F843-2D4F-777B-CBDE4CECECEC}"/>
              </a:ext>
            </a:extLst>
          </p:cNvPr>
          <p:cNvSpPr/>
          <p:nvPr/>
        </p:nvSpPr>
        <p:spPr>
          <a:xfrm>
            <a:off x="56515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4A0042-6F1A-81D9-53CB-8621D8CD944D}"/>
              </a:ext>
            </a:extLst>
          </p:cNvPr>
          <p:cNvSpPr/>
          <p:nvPr/>
        </p:nvSpPr>
        <p:spPr>
          <a:xfrm>
            <a:off x="5969000" y="2603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5F9BB7-0AFE-BE1F-7A3D-C4DB59CA237E}"/>
              </a:ext>
            </a:extLst>
          </p:cNvPr>
          <p:cNvSpPr/>
          <p:nvPr/>
        </p:nvSpPr>
        <p:spPr>
          <a:xfrm>
            <a:off x="12065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42D623-7CC0-E24F-0609-56EBFBD91A7F}"/>
              </a:ext>
            </a:extLst>
          </p:cNvPr>
          <p:cNvSpPr/>
          <p:nvPr/>
        </p:nvSpPr>
        <p:spPr>
          <a:xfrm>
            <a:off x="15240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B15B732-5C8A-2461-B981-857713D13571}"/>
              </a:ext>
            </a:extLst>
          </p:cNvPr>
          <p:cNvSpPr/>
          <p:nvPr/>
        </p:nvSpPr>
        <p:spPr>
          <a:xfrm>
            <a:off x="1841500" y="3492500"/>
            <a:ext cx="215900" cy="685800"/>
          </a:xfrm>
          <a:prstGeom prst="rect">
            <a:avLst/>
          </a:prstGeom>
          <a:solidFill>
            <a:srgbClr val="CFE8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9693CC-4A72-D4E7-2D73-0ED596D77115}"/>
              </a:ext>
            </a:extLst>
          </p:cNvPr>
          <p:cNvSpPr/>
          <p:nvPr/>
        </p:nvSpPr>
        <p:spPr>
          <a:xfrm>
            <a:off x="2159000" y="3492500"/>
            <a:ext cx="215900" cy="6858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0764DE-47D8-04A0-A116-78E6A8427D59}"/>
              </a:ext>
            </a:extLst>
          </p:cNvPr>
          <p:cNvSpPr/>
          <p:nvPr/>
        </p:nvSpPr>
        <p:spPr>
          <a:xfrm>
            <a:off x="24765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7B9D6C-A39A-BA34-8461-7D2B34C1053D}"/>
              </a:ext>
            </a:extLst>
          </p:cNvPr>
          <p:cNvSpPr/>
          <p:nvPr/>
        </p:nvSpPr>
        <p:spPr>
          <a:xfrm>
            <a:off x="27940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B89C6DD-84D8-CCAB-122F-615F6732B594}"/>
              </a:ext>
            </a:extLst>
          </p:cNvPr>
          <p:cNvSpPr/>
          <p:nvPr/>
        </p:nvSpPr>
        <p:spPr>
          <a:xfrm>
            <a:off x="31115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EB9BCDF-C7F2-57E5-0694-E1A8E7838369}"/>
              </a:ext>
            </a:extLst>
          </p:cNvPr>
          <p:cNvSpPr/>
          <p:nvPr/>
        </p:nvSpPr>
        <p:spPr>
          <a:xfrm>
            <a:off x="34290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8915796-85DE-76A2-03CB-92441535BDB9}"/>
              </a:ext>
            </a:extLst>
          </p:cNvPr>
          <p:cNvSpPr/>
          <p:nvPr/>
        </p:nvSpPr>
        <p:spPr>
          <a:xfrm>
            <a:off x="3746500" y="3492500"/>
            <a:ext cx="215900" cy="685800"/>
          </a:xfrm>
          <a:prstGeom prst="rect">
            <a:avLst/>
          </a:prstGeom>
          <a:solidFill>
            <a:srgbClr val="CFE8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306E43-84B5-B8C5-3C15-0B1BDB8622B1}"/>
              </a:ext>
            </a:extLst>
          </p:cNvPr>
          <p:cNvSpPr/>
          <p:nvPr/>
        </p:nvSpPr>
        <p:spPr>
          <a:xfrm>
            <a:off x="4064000" y="3492500"/>
            <a:ext cx="215900" cy="6858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BD2CD27-5E56-9047-2670-05C81CB2E92F}"/>
              </a:ext>
            </a:extLst>
          </p:cNvPr>
          <p:cNvSpPr/>
          <p:nvPr/>
        </p:nvSpPr>
        <p:spPr>
          <a:xfrm>
            <a:off x="43815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6358AC-89F8-CC08-DBB9-4B3F516D5659}"/>
              </a:ext>
            </a:extLst>
          </p:cNvPr>
          <p:cNvSpPr/>
          <p:nvPr/>
        </p:nvSpPr>
        <p:spPr>
          <a:xfrm>
            <a:off x="46990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B7DD38-856F-7C77-4D69-DD7E7588D677}"/>
              </a:ext>
            </a:extLst>
          </p:cNvPr>
          <p:cNvSpPr/>
          <p:nvPr/>
        </p:nvSpPr>
        <p:spPr>
          <a:xfrm>
            <a:off x="50165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3072A5F-103B-F218-63F4-9D67F5F01813}"/>
              </a:ext>
            </a:extLst>
          </p:cNvPr>
          <p:cNvSpPr/>
          <p:nvPr/>
        </p:nvSpPr>
        <p:spPr>
          <a:xfrm>
            <a:off x="5334000" y="3492500"/>
            <a:ext cx="215900" cy="6858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F028CC2-DAAD-770B-1E6A-DEF5DF90E6F7}"/>
              </a:ext>
            </a:extLst>
          </p:cNvPr>
          <p:cNvSpPr/>
          <p:nvPr/>
        </p:nvSpPr>
        <p:spPr>
          <a:xfrm>
            <a:off x="5651500" y="3492500"/>
            <a:ext cx="215900" cy="685800"/>
          </a:xfrm>
          <a:prstGeom prst="rect">
            <a:avLst/>
          </a:prstGeom>
          <a:solidFill>
            <a:srgbClr val="CFE8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B46C507-0D54-6C4C-25AD-9C6D021C3AD9}"/>
              </a:ext>
            </a:extLst>
          </p:cNvPr>
          <p:cNvSpPr/>
          <p:nvPr/>
        </p:nvSpPr>
        <p:spPr>
          <a:xfrm>
            <a:off x="5969000" y="3492500"/>
            <a:ext cx="215900" cy="6858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AB1AAD-A90C-B63F-C55F-DA09ABC5AD0C}"/>
              </a:ext>
            </a:extLst>
          </p:cNvPr>
          <p:cNvSpPr txBox="1"/>
          <p:nvPr/>
        </p:nvSpPr>
        <p:spPr>
          <a:xfrm>
            <a:off x="1587500" y="4381500"/>
            <a:ext cx="43180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850">
                <a:solidFill>
                  <a:srgbClr val="64748B"/>
                </a:solidFill>
                <a:latin typeface="Aptos" panose="020B0004020202020204" pitchFamily="34" charset="0"/>
              </a:rPr>
              <a:t>Each vertical block owns a separate output region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2C4FEB7-9E49-3941-04E3-FC5D4500779D}"/>
              </a:ext>
            </a:extLst>
          </p:cNvPr>
          <p:cNvSpPr/>
          <p:nvPr/>
        </p:nvSpPr>
        <p:spPr>
          <a:xfrm>
            <a:off x="7620000" y="1841500"/>
            <a:ext cx="3619500" cy="2286000"/>
          </a:xfrm>
          <a:prstGeom prst="rect">
            <a:avLst/>
          </a:prstGeom>
          <a:solidFill>
            <a:srgbClr val="0D1726"/>
          </a:solidFill>
          <a:ln w="8890">
            <a:solidFill>
              <a:srgbClr val="0B1F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F08555B-F684-6FD8-4F71-00A97497C34C}"/>
              </a:ext>
            </a:extLst>
          </p:cNvPr>
          <p:cNvSpPr/>
          <p:nvPr/>
        </p:nvSpPr>
        <p:spPr>
          <a:xfrm>
            <a:off x="7620000" y="1841500"/>
            <a:ext cx="3619500" cy="254000"/>
          </a:xfrm>
          <a:prstGeom prst="rect">
            <a:avLst/>
          </a:prstGeom>
          <a:solidFill>
            <a:srgbClr val="E8F1FB"/>
          </a:solidFill>
          <a:ln w="0">
            <a:solidFill>
              <a:srgbClr val="E8F1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5795F4-1A64-4F7C-13E1-8CF349192D10}"/>
              </a:ext>
            </a:extLst>
          </p:cNvPr>
          <p:cNvSpPr txBox="1"/>
          <p:nvPr/>
        </p:nvSpPr>
        <p:spPr>
          <a:xfrm>
            <a:off x="7747000" y="1905000"/>
            <a:ext cx="3365500" cy="14670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20" b="1">
                <a:solidFill>
                  <a:srgbClr val="0A66C2"/>
                </a:solidFill>
                <a:latin typeface="Consolas" panose="020B0609020204030204" pitchFamily="49" charset="0"/>
              </a:rPr>
              <a:t>tile loop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4CFAB8-958A-380A-D9B0-A41CA894EC30}"/>
              </a:ext>
            </a:extLst>
          </p:cNvPr>
          <p:cNvSpPr txBox="1"/>
          <p:nvPr/>
        </p:nvSpPr>
        <p:spPr>
          <a:xfrm>
            <a:off x="7772400" y="2222500"/>
            <a:ext cx="3314700" cy="651460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tiles = ceil(N / tile_N)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for tile in 0 .. tiles-1: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    n0 = tile * tile_N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    nb = min(tile_N, N - n0)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    C_ptr = C + n0 * M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    call selected kernel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D1B5AA-A0F8-B707-1B66-22CF8A46B74F}"/>
              </a:ext>
            </a:extLst>
          </p:cNvPr>
          <p:cNvSpPr/>
          <p:nvPr/>
        </p:nvSpPr>
        <p:spPr>
          <a:xfrm>
            <a:off x="7620000" y="4445000"/>
            <a:ext cx="3619500" cy="7366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B6EACC2-153B-AC5A-4D42-C43C6C3AFF39}"/>
              </a:ext>
            </a:extLst>
          </p:cNvPr>
          <p:cNvSpPr/>
          <p:nvPr/>
        </p:nvSpPr>
        <p:spPr>
          <a:xfrm>
            <a:off x="7620000" y="4445000"/>
            <a:ext cx="50800" cy="7366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4B30B5-9608-3DEF-5667-810F56C7C242}"/>
              </a:ext>
            </a:extLst>
          </p:cNvPr>
          <p:cNvSpPr txBox="1"/>
          <p:nvPr/>
        </p:nvSpPr>
        <p:spPr>
          <a:xfrm>
            <a:off x="7785100" y="4572000"/>
            <a:ext cx="33401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50" b="1">
                <a:solidFill>
                  <a:srgbClr val="15803D"/>
                </a:solidFill>
                <a:latin typeface="Aptos" panose="020B0004020202020204" pitchFamily="34" charset="0"/>
              </a:rPr>
              <a:t>Why this is safe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0D7462-68D6-54E4-6563-B8EC7D9D9CDA}"/>
              </a:ext>
            </a:extLst>
          </p:cNvPr>
          <p:cNvSpPr txBox="1"/>
          <p:nvPr/>
        </p:nvSpPr>
        <p:spPr>
          <a:xfrm>
            <a:off x="7785100" y="4826000"/>
            <a:ext cx="3340100" cy="30675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30">
                <a:solidFill>
                  <a:srgbClr val="334155"/>
                </a:solidFill>
                <a:latin typeface="Aptos" panose="020B0004020202020204" pitchFamily="34" charset="0"/>
              </a:rPr>
              <a:t>A tile writes only its own columns of C, so OpenMP threads do not overwrite each other.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A47A0A-F14D-144C-D4A0-43B93B3EB8A8}"/>
              </a:ext>
            </a:extLst>
          </p:cNvPr>
          <p:cNvSpPr txBox="1"/>
          <p:nvPr/>
        </p:nvSpPr>
        <p:spPr>
          <a:xfrm>
            <a:off x="1524000" y="5588000"/>
            <a:ext cx="9144000" cy="243656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1250" b="1">
                <a:solidFill>
                  <a:srgbClr val="111827"/>
                </a:solidFill>
                <a:latin typeface="Aptos" panose="020B0004020202020204" pitchFamily="34" charset="0"/>
              </a:rPr>
              <a:t>OpenMP does not change the GEMM formula; it changes how output work is divided.</a:t>
            </a:r>
          </a:p>
        </p:txBody>
      </p:sp>
    </p:spTree>
    <p:extLst>
      <p:ext uri="{BB962C8B-B14F-4D97-AF65-F5344CB8AC3E}">
        <p14:creationId xmlns:p14="http://schemas.microsoft.com/office/powerpoint/2010/main" val="198241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8BB164-815F-D19C-51DB-519A0C07C2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026227-1CC0-D030-E22A-C7191DDA2AF9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1F5F9"/>
          </a:solidFill>
          <a:ln w="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0E5A1-9DE6-D977-93AE-142FBF382251}"/>
              </a:ext>
            </a:extLst>
          </p:cNvPr>
          <p:cNvSpPr txBox="1"/>
          <p:nvPr/>
        </p:nvSpPr>
        <p:spPr>
          <a:xfrm>
            <a:off x="482600" y="114300"/>
            <a:ext cx="9271000" cy="25442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320" b="1">
                <a:solidFill>
                  <a:srgbClr val="111827"/>
                </a:solidFill>
                <a:latin typeface="Aptos" panose="020B0004020202020204" pitchFamily="34" charset="0"/>
              </a:rPr>
              <a:t>Heterogeneous RVV-IME Scheduling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7E34C-4E3E-E0B9-2803-1D7DC6F11AA4}"/>
              </a:ext>
            </a:extLst>
          </p:cNvPr>
          <p:cNvSpPr txBox="1"/>
          <p:nvPr/>
        </p:nvSpPr>
        <p:spPr>
          <a:xfrm>
            <a:off x="482600" y="368300"/>
            <a:ext cx="9652000" cy="149785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40">
                <a:solidFill>
                  <a:srgbClr val="64748B"/>
                </a:solidFill>
                <a:latin typeface="Aptos" panose="020B0004020202020204" pitchFamily="34" charset="0"/>
              </a:rPr>
              <a:t>One shared queue, two execution domains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A0CBE-B898-D2D2-7DD2-178EF9332458}"/>
              </a:ext>
            </a:extLst>
          </p:cNvPr>
          <p:cNvSpPr txBox="1"/>
          <p:nvPr/>
        </p:nvSpPr>
        <p:spPr>
          <a:xfrm>
            <a:off x="11303000" y="165100"/>
            <a:ext cx="431800" cy="16671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50" b="1">
                <a:solidFill>
                  <a:srgbClr val="0A66C2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F3C22F-A509-68F5-EFA3-01D13D4216DA}"/>
              </a:ext>
            </a:extLst>
          </p:cNvPr>
          <p:cNvCxnSpPr/>
          <p:nvPr/>
        </p:nvCxnSpPr>
        <p:spPr>
          <a:xfrm>
            <a:off x="482600" y="6477000"/>
            <a:ext cx="11226800" cy="0"/>
          </a:xfrm>
          <a:prstGeom prst="line">
            <a:avLst/>
          </a:prstGeom>
          <a:ln w="6350">
            <a:solidFill>
              <a:srgbClr val="D6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4C886E-DD69-416C-723B-E00C0B72E356}"/>
              </a:ext>
            </a:extLst>
          </p:cNvPr>
          <p:cNvSpPr txBox="1"/>
          <p:nvPr/>
        </p:nvSpPr>
        <p:spPr>
          <a:xfrm>
            <a:off x="482600" y="6540500"/>
            <a:ext cx="5334000" cy="13901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570">
                <a:solidFill>
                  <a:srgbClr val="64748B"/>
                </a:solidFill>
                <a:latin typeface="Aptos" panose="020B0004020202020204" pitchFamily="34" charset="0"/>
              </a:rPr>
              <a:t>Heterogeneous RVV-IME OpenMP GEMM | RISC-V K1 | ZVL256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BC4008-FFD6-BFC8-F506-36BB0BE6195B}"/>
              </a:ext>
            </a:extLst>
          </p:cNvPr>
          <p:cNvSpPr/>
          <p:nvPr/>
        </p:nvSpPr>
        <p:spPr>
          <a:xfrm>
            <a:off x="1016000" y="1219200"/>
            <a:ext cx="10160000" cy="3810000"/>
          </a:xfrm>
          <a:prstGeom prst="rect">
            <a:avLst/>
          </a:prstGeom>
          <a:solidFill>
            <a:srgbClr val="F8FAFC"/>
          </a:solidFill>
          <a:ln w="1016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77FC57-4687-0331-2738-589EB9370909}"/>
              </a:ext>
            </a:extLst>
          </p:cNvPr>
          <p:cNvSpPr txBox="1"/>
          <p:nvPr/>
        </p:nvSpPr>
        <p:spPr>
          <a:xfrm>
            <a:off x="4826000" y="1524000"/>
            <a:ext cx="2540000" cy="228268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1150" b="1">
                <a:solidFill>
                  <a:srgbClr val="111827"/>
                </a:solidFill>
                <a:latin typeface="Aptos" panose="020B0004020202020204" pitchFamily="34" charset="0"/>
              </a:rPr>
              <a:t>Shared tile queue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2DBD22-E822-C0A5-83F5-EEC3EE6CD079}"/>
              </a:ext>
            </a:extLst>
          </p:cNvPr>
          <p:cNvSpPr/>
          <p:nvPr/>
        </p:nvSpPr>
        <p:spPr>
          <a:xfrm>
            <a:off x="38100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DC8D0D-D24C-DD5B-1F5F-5E55B4F4C88D}"/>
              </a:ext>
            </a:extLst>
          </p:cNvPr>
          <p:cNvSpPr/>
          <p:nvPr/>
        </p:nvSpPr>
        <p:spPr>
          <a:xfrm>
            <a:off x="40894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89008F-A274-C943-6761-0A3206C429B9}"/>
              </a:ext>
            </a:extLst>
          </p:cNvPr>
          <p:cNvSpPr/>
          <p:nvPr/>
        </p:nvSpPr>
        <p:spPr>
          <a:xfrm>
            <a:off x="43688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6AB64-1EF8-64CD-0FE4-0DB77CD9E154}"/>
              </a:ext>
            </a:extLst>
          </p:cNvPr>
          <p:cNvSpPr/>
          <p:nvPr/>
        </p:nvSpPr>
        <p:spPr>
          <a:xfrm>
            <a:off x="46482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905CEB-C3FB-1D12-7493-6890D7349680}"/>
              </a:ext>
            </a:extLst>
          </p:cNvPr>
          <p:cNvSpPr/>
          <p:nvPr/>
        </p:nvSpPr>
        <p:spPr>
          <a:xfrm>
            <a:off x="49276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2D2F75-62AF-2F52-440A-E352DD29B9A2}"/>
              </a:ext>
            </a:extLst>
          </p:cNvPr>
          <p:cNvSpPr/>
          <p:nvPr/>
        </p:nvSpPr>
        <p:spPr>
          <a:xfrm>
            <a:off x="52070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0C97DF-C1EE-96DF-BA24-7D498D301461}"/>
              </a:ext>
            </a:extLst>
          </p:cNvPr>
          <p:cNvSpPr/>
          <p:nvPr/>
        </p:nvSpPr>
        <p:spPr>
          <a:xfrm>
            <a:off x="54864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771286-371C-35EE-8968-C29D8933021B}"/>
              </a:ext>
            </a:extLst>
          </p:cNvPr>
          <p:cNvSpPr/>
          <p:nvPr/>
        </p:nvSpPr>
        <p:spPr>
          <a:xfrm>
            <a:off x="57658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7B70A9-9535-4657-BAC3-08EABD3CBBA7}"/>
              </a:ext>
            </a:extLst>
          </p:cNvPr>
          <p:cNvSpPr/>
          <p:nvPr/>
        </p:nvSpPr>
        <p:spPr>
          <a:xfrm>
            <a:off x="6045200" y="2006600"/>
            <a:ext cx="190500" cy="635000"/>
          </a:xfrm>
          <a:prstGeom prst="rect">
            <a:avLst/>
          </a:prstGeom>
          <a:solidFill>
            <a:srgbClr val="DDEE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0B3AAD-801F-62E5-6516-C8940C68B52B}"/>
              </a:ext>
            </a:extLst>
          </p:cNvPr>
          <p:cNvSpPr/>
          <p:nvPr/>
        </p:nvSpPr>
        <p:spPr>
          <a:xfrm>
            <a:off x="6324600" y="2006600"/>
            <a:ext cx="190500" cy="6350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3EBF65-4E1F-8D72-7691-67DA3CCEDCD7}"/>
              </a:ext>
            </a:extLst>
          </p:cNvPr>
          <p:cNvSpPr/>
          <p:nvPr/>
        </p:nvSpPr>
        <p:spPr>
          <a:xfrm>
            <a:off x="6604000" y="2006600"/>
            <a:ext cx="190500" cy="6350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6A2935-C0F8-2C2F-578E-3527A8D61CC3}"/>
              </a:ext>
            </a:extLst>
          </p:cNvPr>
          <p:cNvSpPr/>
          <p:nvPr/>
        </p:nvSpPr>
        <p:spPr>
          <a:xfrm>
            <a:off x="6883400" y="2006600"/>
            <a:ext cx="190500" cy="6350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858657-EB15-A24D-9DE9-C6CE3D40DC3D}"/>
              </a:ext>
            </a:extLst>
          </p:cNvPr>
          <p:cNvSpPr/>
          <p:nvPr/>
        </p:nvSpPr>
        <p:spPr>
          <a:xfrm>
            <a:off x="7162800" y="2006600"/>
            <a:ext cx="190500" cy="6350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5AEABD-3214-109F-59B1-0789D242C2D9}"/>
              </a:ext>
            </a:extLst>
          </p:cNvPr>
          <p:cNvSpPr/>
          <p:nvPr/>
        </p:nvSpPr>
        <p:spPr>
          <a:xfrm>
            <a:off x="7442200" y="2006600"/>
            <a:ext cx="190500" cy="6350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C5F0B4-03EA-D941-C03F-7FBD68CE8774}"/>
              </a:ext>
            </a:extLst>
          </p:cNvPr>
          <p:cNvSpPr/>
          <p:nvPr/>
        </p:nvSpPr>
        <p:spPr>
          <a:xfrm>
            <a:off x="7721600" y="2006600"/>
            <a:ext cx="190500" cy="6350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D44B2-C14F-9A2C-C61C-0A0B1F5A96BD}"/>
              </a:ext>
            </a:extLst>
          </p:cNvPr>
          <p:cNvSpPr/>
          <p:nvPr/>
        </p:nvSpPr>
        <p:spPr>
          <a:xfrm>
            <a:off x="8001000" y="2006600"/>
            <a:ext cx="190500" cy="635000"/>
          </a:xfrm>
          <a:prstGeom prst="rect">
            <a:avLst/>
          </a:prstGeom>
          <a:solidFill>
            <a:srgbClr val="FEE2E2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69DBF6-F338-8E86-2785-37BB20B10671}"/>
              </a:ext>
            </a:extLst>
          </p:cNvPr>
          <p:cNvCxnSpPr/>
          <p:nvPr/>
        </p:nvCxnSpPr>
        <p:spPr>
          <a:xfrm flipH="1">
            <a:off x="3022600" y="2794000"/>
            <a:ext cx="1930400" cy="635000"/>
          </a:xfrm>
          <a:prstGeom prst="line">
            <a:avLst/>
          </a:prstGeom>
          <a:ln w="19050">
            <a:solidFill>
              <a:srgbClr val="B91C1C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1107BF2-2B5F-DB23-B7CF-CCD75706637D}"/>
              </a:ext>
            </a:extLst>
          </p:cNvPr>
          <p:cNvCxnSpPr/>
          <p:nvPr/>
        </p:nvCxnSpPr>
        <p:spPr>
          <a:xfrm>
            <a:off x="7175500" y="2794000"/>
            <a:ext cx="1879600" cy="635000"/>
          </a:xfrm>
          <a:prstGeom prst="line">
            <a:avLst/>
          </a:prstGeom>
          <a:ln w="19050">
            <a:solidFill>
              <a:srgbClr val="0A66C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5C246EF-5067-C453-D79A-2C9EE1A3EFD7}"/>
              </a:ext>
            </a:extLst>
          </p:cNvPr>
          <p:cNvSpPr/>
          <p:nvPr/>
        </p:nvSpPr>
        <p:spPr>
          <a:xfrm>
            <a:off x="1676400" y="3581400"/>
            <a:ext cx="7112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683E5F-E05A-54F9-4EFB-400FD56DE417}"/>
              </a:ext>
            </a:extLst>
          </p:cNvPr>
          <p:cNvSpPr txBox="1"/>
          <p:nvPr/>
        </p:nvSpPr>
        <p:spPr>
          <a:xfrm>
            <a:off x="1676400" y="3644900"/>
            <a:ext cx="7112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core 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70360F0-E884-DA5F-6D08-3D1ED9A8CA82}"/>
              </a:ext>
            </a:extLst>
          </p:cNvPr>
          <p:cNvSpPr/>
          <p:nvPr/>
        </p:nvSpPr>
        <p:spPr>
          <a:xfrm>
            <a:off x="2641600" y="3581400"/>
            <a:ext cx="7112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F1447C-150E-74EB-65F9-B6AA02B4F0EA}"/>
              </a:ext>
            </a:extLst>
          </p:cNvPr>
          <p:cNvSpPr txBox="1"/>
          <p:nvPr/>
        </p:nvSpPr>
        <p:spPr>
          <a:xfrm>
            <a:off x="2641600" y="3644900"/>
            <a:ext cx="7112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core 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F27B0DC-37B9-6CE6-6AC0-E17F58E7429E}"/>
              </a:ext>
            </a:extLst>
          </p:cNvPr>
          <p:cNvSpPr/>
          <p:nvPr/>
        </p:nvSpPr>
        <p:spPr>
          <a:xfrm>
            <a:off x="3606800" y="3581400"/>
            <a:ext cx="7112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D2E138-7F80-343C-2557-D6BAACF5865B}"/>
              </a:ext>
            </a:extLst>
          </p:cNvPr>
          <p:cNvSpPr txBox="1"/>
          <p:nvPr/>
        </p:nvSpPr>
        <p:spPr>
          <a:xfrm>
            <a:off x="3606800" y="3644900"/>
            <a:ext cx="7112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core 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52AE31-A75D-20C2-6954-4DE7A9887F9D}"/>
              </a:ext>
            </a:extLst>
          </p:cNvPr>
          <p:cNvSpPr/>
          <p:nvPr/>
        </p:nvSpPr>
        <p:spPr>
          <a:xfrm>
            <a:off x="4572000" y="3581400"/>
            <a:ext cx="7112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84250E-CEFB-9D6D-38FF-4DCFC44D12B9}"/>
              </a:ext>
            </a:extLst>
          </p:cNvPr>
          <p:cNvSpPr txBox="1"/>
          <p:nvPr/>
        </p:nvSpPr>
        <p:spPr>
          <a:xfrm>
            <a:off x="4572000" y="3644900"/>
            <a:ext cx="7112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core 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5F43C4-64A0-DD3A-A71A-9C63FF0714F1}"/>
              </a:ext>
            </a:extLst>
          </p:cNvPr>
          <p:cNvSpPr/>
          <p:nvPr/>
        </p:nvSpPr>
        <p:spPr>
          <a:xfrm>
            <a:off x="7175500" y="3581400"/>
            <a:ext cx="7112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A0A480D-03A7-8372-E1C1-0102988119E2}"/>
              </a:ext>
            </a:extLst>
          </p:cNvPr>
          <p:cNvSpPr txBox="1"/>
          <p:nvPr/>
        </p:nvSpPr>
        <p:spPr>
          <a:xfrm>
            <a:off x="7175500" y="3644900"/>
            <a:ext cx="7112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core 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9A491B-4DF0-281F-ED6F-4DA6B741ACAC}"/>
              </a:ext>
            </a:extLst>
          </p:cNvPr>
          <p:cNvSpPr/>
          <p:nvPr/>
        </p:nvSpPr>
        <p:spPr>
          <a:xfrm>
            <a:off x="8140700" y="3581400"/>
            <a:ext cx="7112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4ED155-0633-093F-A350-BC71D0D096A6}"/>
              </a:ext>
            </a:extLst>
          </p:cNvPr>
          <p:cNvSpPr txBox="1"/>
          <p:nvPr/>
        </p:nvSpPr>
        <p:spPr>
          <a:xfrm>
            <a:off x="8140700" y="3644900"/>
            <a:ext cx="7112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core 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26B10E9-C40B-25AE-484F-4E656ECB1D20}"/>
              </a:ext>
            </a:extLst>
          </p:cNvPr>
          <p:cNvSpPr/>
          <p:nvPr/>
        </p:nvSpPr>
        <p:spPr>
          <a:xfrm>
            <a:off x="9105900" y="3581400"/>
            <a:ext cx="7112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5F5331-5DFC-DA55-0006-54D08E123EBE}"/>
              </a:ext>
            </a:extLst>
          </p:cNvPr>
          <p:cNvSpPr txBox="1"/>
          <p:nvPr/>
        </p:nvSpPr>
        <p:spPr>
          <a:xfrm>
            <a:off x="9105900" y="3644900"/>
            <a:ext cx="7112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core 6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DF30317-0E54-EB05-7B5B-2593BD0F4973}"/>
              </a:ext>
            </a:extLst>
          </p:cNvPr>
          <p:cNvSpPr/>
          <p:nvPr/>
        </p:nvSpPr>
        <p:spPr>
          <a:xfrm>
            <a:off x="10071100" y="3581400"/>
            <a:ext cx="7112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AB98A4-0E2F-09E5-6B08-D99342850841}"/>
              </a:ext>
            </a:extLst>
          </p:cNvPr>
          <p:cNvSpPr txBox="1"/>
          <p:nvPr/>
        </p:nvSpPr>
        <p:spPr>
          <a:xfrm>
            <a:off x="10071100" y="3644900"/>
            <a:ext cx="7112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core 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B1AA64-4B74-F7A7-FE35-F88AD25EA534}"/>
              </a:ext>
            </a:extLst>
          </p:cNvPr>
          <p:cNvSpPr txBox="1"/>
          <p:nvPr/>
        </p:nvSpPr>
        <p:spPr>
          <a:xfrm>
            <a:off x="2133600" y="4165600"/>
            <a:ext cx="2413000" cy="2128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1050" b="1">
                <a:solidFill>
                  <a:srgbClr val="B91C1C"/>
                </a:solidFill>
                <a:latin typeface="Aptos" panose="020B0004020202020204" pitchFamily="34" charset="0"/>
              </a:rPr>
              <a:t>IME-capable domain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8AE41B9-0B26-6773-46FC-9BD4D3D9D19C}"/>
              </a:ext>
            </a:extLst>
          </p:cNvPr>
          <p:cNvSpPr txBox="1"/>
          <p:nvPr/>
        </p:nvSpPr>
        <p:spPr>
          <a:xfrm>
            <a:off x="7874000" y="4165600"/>
            <a:ext cx="2286000" cy="2128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1050" b="1">
                <a:solidFill>
                  <a:srgbClr val="0A66C2"/>
                </a:solidFill>
                <a:latin typeface="Aptos" panose="020B0004020202020204" pitchFamily="34" charset="0"/>
              </a:rPr>
              <a:t>RVV domain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9029BB-7D9B-DB9F-8332-C2F3E38C67DB}"/>
              </a:ext>
            </a:extLst>
          </p:cNvPr>
          <p:cNvSpPr/>
          <p:nvPr/>
        </p:nvSpPr>
        <p:spPr>
          <a:xfrm>
            <a:off x="2413000" y="4521200"/>
            <a:ext cx="1905000" cy="304800"/>
          </a:xfrm>
          <a:prstGeom prst="rect">
            <a:avLst/>
          </a:prstGeom>
          <a:solidFill>
            <a:srgbClr val="B91C1C"/>
          </a:solidFill>
          <a:ln w="0">
            <a:solidFill>
              <a:srgbClr val="B91C1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18BBAED-CD0E-8BA9-1E9F-2EA90031D514}"/>
              </a:ext>
            </a:extLst>
          </p:cNvPr>
          <p:cNvSpPr txBox="1"/>
          <p:nvPr/>
        </p:nvSpPr>
        <p:spPr>
          <a:xfrm>
            <a:off x="2413000" y="4584700"/>
            <a:ext cx="19050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chunk = 4 tiles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926890-8089-775A-554A-D55B6EB6F2C0}"/>
              </a:ext>
            </a:extLst>
          </p:cNvPr>
          <p:cNvSpPr/>
          <p:nvPr/>
        </p:nvSpPr>
        <p:spPr>
          <a:xfrm>
            <a:off x="8128000" y="4521200"/>
            <a:ext cx="1905000" cy="3048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FA7278-A624-1232-7D15-BE2A0E8EE733}"/>
              </a:ext>
            </a:extLst>
          </p:cNvPr>
          <p:cNvSpPr txBox="1"/>
          <p:nvPr/>
        </p:nvSpPr>
        <p:spPr>
          <a:xfrm>
            <a:off x="8128000" y="4584700"/>
            <a:ext cx="1905000" cy="16055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10" b="1">
                <a:solidFill>
                  <a:srgbClr val="FFFFFF"/>
                </a:solidFill>
                <a:latin typeface="Aptos" panose="020B0004020202020204" pitchFamily="34" charset="0"/>
              </a:rPr>
              <a:t>chunk = 1 tile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1556490-54B7-DA3F-2478-88D2D74CAF1D}"/>
              </a:ext>
            </a:extLst>
          </p:cNvPr>
          <p:cNvSpPr/>
          <p:nvPr/>
        </p:nvSpPr>
        <p:spPr>
          <a:xfrm>
            <a:off x="1016000" y="5334000"/>
            <a:ext cx="4826000" cy="952500"/>
          </a:xfrm>
          <a:prstGeom prst="rect">
            <a:avLst/>
          </a:prstGeom>
          <a:solidFill>
            <a:srgbClr val="0D1726"/>
          </a:solidFill>
          <a:ln w="8890">
            <a:solidFill>
              <a:srgbClr val="0B1F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151ADD9-9369-40A9-7595-2A9BC7B84DF9}"/>
              </a:ext>
            </a:extLst>
          </p:cNvPr>
          <p:cNvSpPr/>
          <p:nvPr/>
        </p:nvSpPr>
        <p:spPr>
          <a:xfrm>
            <a:off x="1016000" y="5334000"/>
            <a:ext cx="4826000" cy="254000"/>
          </a:xfrm>
          <a:prstGeom prst="rect">
            <a:avLst/>
          </a:prstGeom>
          <a:solidFill>
            <a:srgbClr val="E8F1FB"/>
          </a:solidFill>
          <a:ln w="0">
            <a:solidFill>
              <a:srgbClr val="E8F1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D4035F6-D4E1-D9EF-6BE1-8F3233366BC1}"/>
              </a:ext>
            </a:extLst>
          </p:cNvPr>
          <p:cNvSpPr txBox="1"/>
          <p:nvPr/>
        </p:nvSpPr>
        <p:spPr>
          <a:xfrm>
            <a:off x="1143000" y="5397500"/>
            <a:ext cx="4572000" cy="146707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20" b="1">
                <a:solidFill>
                  <a:srgbClr val="0A66C2"/>
                </a:solidFill>
                <a:latin typeface="Consolas" panose="020B0609020204030204" pitchFamily="49" charset="0"/>
              </a:rPr>
              <a:t>scheduler evidence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D3B82F-D6DB-1342-DB66-245A3B86F5A1}"/>
              </a:ext>
            </a:extLst>
          </p:cNvPr>
          <p:cNvSpPr txBox="1"/>
          <p:nvPr/>
        </p:nvSpPr>
        <p:spPr>
          <a:xfrm>
            <a:off x="1168400" y="5715000"/>
            <a:ext cx="4521200" cy="551433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#pragma omp parallel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cpu = sched_getcpu();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chunk = mixed_tile_chunk_for_cpu(cpu);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#pragma omp atomic capture</a:t>
            </a:r>
          </a:p>
          <a:p>
            <a:r>
              <a:rPr lang="en-US" sz="650">
                <a:solidFill>
                  <a:srgbClr val="E5EEF9"/>
                </a:solidFill>
                <a:latin typeface="Consolas" panose="020B0609020204030204" pitchFamily="49" charset="0"/>
              </a:rPr>
              <a:t>start = next_tile; next_tile += chunk;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6B120C2-0383-2931-0DC5-54241B31CD95}"/>
              </a:ext>
            </a:extLst>
          </p:cNvPr>
          <p:cNvSpPr/>
          <p:nvPr/>
        </p:nvSpPr>
        <p:spPr>
          <a:xfrm>
            <a:off x="6477000" y="5334000"/>
            <a:ext cx="4699000" cy="9525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9EA870F-4726-4671-9DD3-B3527469C80F}"/>
              </a:ext>
            </a:extLst>
          </p:cNvPr>
          <p:cNvSpPr/>
          <p:nvPr/>
        </p:nvSpPr>
        <p:spPr>
          <a:xfrm>
            <a:off x="6477000" y="5334000"/>
            <a:ext cx="50800" cy="9525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CADC88-4FA5-8B83-8FC1-DDF09D33AD51}"/>
              </a:ext>
            </a:extLst>
          </p:cNvPr>
          <p:cNvSpPr txBox="1"/>
          <p:nvPr/>
        </p:nvSpPr>
        <p:spPr>
          <a:xfrm>
            <a:off x="6642100" y="5461000"/>
            <a:ext cx="44196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50" b="1">
                <a:solidFill>
                  <a:srgbClr val="0A66C2"/>
                </a:solidFill>
                <a:latin typeface="Aptos" panose="020B0004020202020204" pitchFamily="34" charset="0"/>
              </a:rPr>
              <a:t>Interpretation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DCCD4B-BA35-BCB4-41D0-96A3A2640361}"/>
              </a:ext>
            </a:extLst>
          </p:cNvPr>
          <p:cNvSpPr txBox="1"/>
          <p:nvPr/>
        </p:nvSpPr>
        <p:spPr>
          <a:xfrm>
            <a:off x="6642100" y="5715000"/>
            <a:ext cx="4419600" cy="30675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30">
                <a:solidFill>
                  <a:srgbClr val="334155"/>
                </a:solidFill>
                <a:latin typeface="Aptos" panose="020B0004020202020204" pitchFamily="34" charset="0"/>
              </a:rPr>
              <a:t>IME-capable cores and RVV cores pull work from the same tile queue, but execute different kernel paths.</a:t>
            </a:r>
          </a:p>
        </p:txBody>
      </p:sp>
    </p:spTree>
    <p:extLst>
      <p:ext uri="{BB962C8B-B14F-4D97-AF65-F5344CB8AC3E}">
        <p14:creationId xmlns:p14="http://schemas.microsoft.com/office/powerpoint/2010/main" val="3641789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D570A8-FAC3-B803-7A6C-0EB81317B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007D97-7034-FD7F-19FD-0CA185560163}"/>
              </a:ext>
            </a:extLst>
          </p:cNvPr>
          <p:cNvSpPr/>
          <p:nvPr/>
        </p:nvSpPr>
        <p:spPr>
          <a:xfrm>
            <a:off x="0" y="0"/>
            <a:ext cx="12192000" cy="558800"/>
          </a:xfrm>
          <a:prstGeom prst="rect">
            <a:avLst/>
          </a:prstGeom>
          <a:solidFill>
            <a:srgbClr val="F1F5F9"/>
          </a:solidFill>
          <a:ln w="0">
            <a:solidFill>
              <a:srgbClr val="F1F5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3AECA-BAFA-6D46-291C-60106E3B9F42}"/>
              </a:ext>
            </a:extLst>
          </p:cNvPr>
          <p:cNvSpPr txBox="1"/>
          <p:nvPr/>
        </p:nvSpPr>
        <p:spPr>
          <a:xfrm>
            <a:off x="482600" y="114300"/>
            <a:ext cx="9271000" cy="25442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320" b="1">
                <a:solidFill>
                  <a:srgbClr val="111827"/>
                </a:solidFill>
                <a:latin typeface="Aptos" panose="020B0004020202020204" pitchFamily="34" charset="0"/>
              </a:rPr>
              <a:t>Evaluation and Reporting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AABF5-DF99-40DD-11C6-32FB6D60CE73}"/>
              </a:ext>
            </a:extLst>
          </p:cNvPr>
          <p:cNvSpPr txBox="1"/>
          <p:nvPr/>
        </p:nvSpPr>
        <p:spPr>
          <a:xfrm>
            <a:off x="482600" y="368300"/>
            <a:ext cx="9652000" cy="149785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40">
                <a:solidFill>
                  <a:srgbClr val="64748B"/>
                </a:solidFill>
                <a:latin typeface="Aptos" panose="020B0004020202020204" pitchFamily="34" charset="0"/>
              </a:rPr>
              <a:t>How the results should be interpreted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308F0F-74E6-18D4-AF70-A5AD7612F1D5}"/>
              </a:ext>
            </a:extLst>
          </p:cNvPr>
          <p:cNvSpPr txBox="1"/>
          <p:nvPr/>
        </p:nvSpPr>
        <p:spPr>
          <a:xfrm>
            <a:off x="11303000" y="165100"/>
            <a:ext cx="431800" cy="16671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pPr algn="ctr"/>
            <a:r>
              <a:rPr lang="en-US" sz="750" b="1">
                <a:solidFill>
                  <a:srgbClr val="0A66C2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E31BD5-4604-9087-8DA8-D45B3802C5B8}"/>
              </a:ext>
            </a:extLst>
          </p:cNvPr>
          <p:cNvCxnSpPr/>
          <p:nvPr/>
        </p:nvCxnSpPr>
        <p:spPr>
          <a:xfrm>
            <a:off x="482600" y="6477000"/>
            <a:ext cx="11226800" cy="0"/>
          </a:xfrm>
          <a:prstGeom prst="line">
            <a:avLst/>
          </a:prstGeom>
          <a:ln w="6350">
            <a:solidFill>
              <a:srgbClr val="D6DE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B6BFFB5-F292-C6B5-2E9D-4AF19A550395}"/>
              </a:ext>
            </a:extLst>
          </p:cNvPr>
          <p:cNvSpPr txBox="1"/>
          <p:nvPr/>
        </p:nvSpPr>
        <p:spPr>
          <a:xfrm>
            <a:off x="482600" y="6540500"/>
            <a:ext cx="5334000" cy="139012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570">
                <a:solidFill>
                  <a:srgbClr val="64748B"/>
                </a:solidFill>
                <a:latin typeface="Aptos" panose="020B0004020202020204" pitchFamily="34" charset="0"/>
              </a:rPr>
              <a:t>Heterogeneous RVV-IME OpenMP GEMM | RISC-V K1 | ZVL256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9B7D1E-C026-5E2C-1A89-7E34CD8C4649}"/>
              </a:ext>
            </a:extLst>
          </p:cNvPr>
          <p:cNvSpPr/>
          <p:nvPr/>
        </p:nvSpPr>
        <p:spPr>
          <a:xfrm>
            <a:off x="863600" y="1168400"/>
            <a:ext cx="2286000" cy="419100"/>
          </a:xfrm>
          <a:prstGeom prst="rect">
            <a:avLst/>
          </a:prstGeom>
          <a:solidFill>
            <a:srgbClr val="0B1F3A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A3F85E-8F4E-EE8D-82D1-49768CCB84C7}"/>
              </a:ext>
            </a:extLst>
          </p:cNvPr>
          <p:cNvSpPr txBox="1"/>
          <p:nvPr/>
        </p:nvSpPr>
        <p:spPr>
          <a:xfrm>
            <a:off x="952500" y="1219200"/>
            <a:ext cx="2108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 b="1">
                <a:solidFill>
                  <a:srgbClr val="FFFFFF"/>
                </a:solidFill>
                <a:latin typeface="Aptos" panose="020B0004020202020204" pitchFamily="34" charset="0"/>
              </a:rPr>
              <a:t>Experiment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6D04A2-65AE-83BB-A1B9-9FD8215D1060}"/>
              </a:ext>
            </a:extLst>
          </p:cNvPr>
          <p:cNvSpPr/>
          <p:nvPr/>
        </p:nvSpPr>
        <p:spPr>
          <a:xfrm>
            <a:off x="3149600" y="1168400"/>
            <a:ext cx="3810000" cy="419100"/>
          </a:xfrm>
          <a:prstGeom prst="rect">
            <a:avLst/>
          </a:prstGeom>
          <a:solidFill>
            <a:srgbClr val="0B1F3A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1F89BD-AEA4-F702-1CDA-3DC8C3720D22}"/>
              </a:ext>
            </a:extLst>
          </p:cNvPr>
          <p:cNvSpPr txBox="1"/>
          <p:nvPr/>
        </p:nvSpPr>
        <p:spPr>
          <a:xfrm>
            <a:off x="3238500" y="1219200"/>
            <a:ext cx="3632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 b="1">
                <a:solidFill>
                  <a:srgbClr val="FFFFFF"/>
                </a:solidFill>
                <a:latin typeface="Aptos" panose="020B0004020202020204" pitchFamily="34" charset="0"/>
              </a:rPr>
              <a:t>Execution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122627-517B-9618-2744-59156D8A0CC6}"/>
              </a:ext>
            </a:extLst>
          </p:cNvPr>
          <p:cNvSpPr/>
          <p:nvPr/>
        </p:nvSpPr>
        <p:spPr>
          <a:xfrm>
            <a:off x="6959600" y="1168400"/>
            <a:ext cx="4508500" cy="419100"/>
          </a:xfrm>
          <a:prstGeom prst="rect">
            <a:avLst/>
          </a:prstGeom>
          <a:solidFill>
            <a:srgbClr val="0B1F3A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D292A9-DCBB-2E43-1CD1-9D2AD03E85C3}"/>
              </a:ext>
            </a:extLst>
          </p:cNvPr>
          <p:cNvSpPr txBox="1"/>
          <p:nvPr/>
        </p:nvSpPr>
        <p:spPr>
          <a:xfrm>
            <a:off x="7048500" y="1219200"/>
            <a:ext cx="43307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 b="1">
                <a:solidFill>
                  <a:srgbClr val="FFFFFF"/>
                </a:solidFill>
                <a:latin typeface="Aptos" panose="020B0004020202020204" pitchFamily="34" charset="0"/>
              </a:rPr>
              <a:t>Meaning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DD17A7-A27C-5BB8-4BDB-E6A3DF5F16A8}"/>
              </a:ext>
            </a:extLst>
          </p:cNvPr>
          <p:cNvSpPr/>
          <p:nvPr/>
        </p:nvSpPr>
        <p:spPr>
          <a:xfrm>
            <a:off x="863600" y="1587500"/>
            <a:ext cx="2286000" cy="4191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CF570F-2D4C-D1FF-9375-D4F37340FFD6}"/>
              </a:ext>
            </a:extLst>
          </p:cNvPr>
          <p:cNvSpPr txBox="1"/>
          <p:nvPr/>
        </p:nvSpPr>
        <p:spPr>
          <a:xfrm>
            <a:off x="952500" y="1638300"/>
            <a:ext cx="2108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Core-isolated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D2F8B7-960E-6B3F-0AE6-BAF8738EB15E}"/>
              </a:ext>
            </a:extLst>
          </p:cNvPr>
          <p:cNvSpPr/>
          <p:nvPr/>
        </p:nvSpPr>
        <p:spPr>
          <a:xfrm>
            <a:off x="3149600" y="1587500"/>
            <a:ext cx="3810000" cy="4191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9A8D44-4D4C-75C0-49AD-58372D6B4DCC}"/>
              </a:ext>
            </a:extLst>
          </p:cNvPr>
          <p:cNvSpPr txBox="1"/>
          <p:nvPr/>
        </p:nvSpPr>
        <p:spPr>
          <a:xfrm>
            <a:off x="3238500" y="1638300"/>
            <a:ext cx="3632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one pinned core, one kernel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368F83-B661-99DA-A279-823CFF258EB3}"/>
              </a:ext>
            </a:extLst>
          </p:cNvPr>
          <p:cNvSpPr/>
          <p:nvPr/>
        </p:nvSpPr>
        <p:spPr>
          <a:xfrm>
            <a:off x="6959600" y="1587500"/>
            <a:ext cx="4508500" cy="4191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F9AE5A-1AB4-5E86-9C52-01E67DED4B78}"/>
              </a:ext>
            </a:extLst>
          </p:cNvPr>
          <p:cNvSpPr txBox="1"/>
          <p:nvPr/>
        </p:nvSpPr>
        <p:spPr>
          <a:xfrm>
            <a:off x="7048500" y="1638300"/>
            <a:ext cx="43307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raw micro-kernel efficiency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5AFDBD-A6EE-78D9-F048-97B89CB1A008}"/>
              </a:ext>
            </a:extLst>
          </p:cNvPr>
          <p:cNvSpPr/>
          <p:nvPr/>
        </p:nvSpPr>
        <p:spPr>
          <a:xfrm>
            <a:off x="863600" y="2006600"/>
            <a:ext cx="2286000" cy="419100"/>
          </a:xfrm>
          <a:prstGeom prst="rect">
            <a:avLst/>
          </a:prstGeom>
          <a:solidFill>
            <a:srgbClr val="F8FAFC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53DD4E-E974-B624-BE7B-681004AAB582}"/>
              </a:ext>
            </a:extLst>
          </p:cNvPr>
          <p:cNvSpPr txBox="1"/>
          <p:nvPr/>
        </p:nvSpPr>
        <p:spPr>
          <a:xfrm>
            <a:off x="952500" y="2057400"/>
            <a:ext cx="2108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OpenMP RVV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13BE4-6C0D-4179-D0A4-1C9B36160AA6}"/>
              </a:ext>
            </a:extLst>
          </p:cNvPr>
          <p:cNvSpPr/>
          <p:nvPr/>
        </p:nvSpPr>
        <p:spPr>
          <a:xfrm>
            <a:off x="3149600" y="2006600"/>
            <a:ext cx="3810000" cy="419100"/>
          </a:xfrm>
          <a:prstGeom prst="rect">
            <a:avLst/>
          </a:prstGeom>
          <a:solidFill>
            <a:srgbClr val="F8FAFC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C3748A-7349-5137-792E-D15A7DB56091}"/>
              </a:ext>
            </a:extLst>
          </p:cNvPr>
          <p:cNvSpPr txBox="1"/>
          <p:nvPr/>
        </p:nvSpPr>
        <p:spPr>
          <a:xfrm>
            <a:off x="3238500" y="2057400"/>
            <a:ext cx="3632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RVV/all-core baseline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5C102C-9BD1-1818-CC57-BFF230245CB7}"/>
              </a:ext>
            </a:extLst>
          </p:cNvPr>
          <p:cNvSpPr/>
          <p:nvPr/>
        </p:nvSpPr>
        <p:spPr>
          <a:xfrm>
            <a:off x="6959600" y="2006600"/>
            <a:ext cx="4508500" cy="419100"/>
          </a:xfrm>
          <a:prstGeom prst="rect">
            <a:avLst/>
          </a:prstGeom>
          <a:solidFill>
            <a:srgbClr val="F8FAFC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ECD8C5-CAFD-942D-552D-8D6F7D13F78D}"/>
              </a:ext>
            </a:extLst>
          </p:cNvPr>
          <p:cNvSpPr txBox="1"/>
          <p:nvPr/>
        </p:nvSpPr>
        <p:spPr>
          <a:xfrm>
            <a:off x="7048500" y="2057400"/>
            <a:ext cx="43307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board-level RVV throughput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542526-BF24-FF7E-1E50-C8C91A35D92F}"/>
              </a:ext>
            </a:extLst>
          </p:cNvPr>
          <p:cNvSpPr/>
          <p:nvPr/>
        </p:nvSpPr>
        <p:spPr>
          <a:xfrm>
            <a:off x="863600" y="2425700"/>
            <a:ext cx="2286000" cy="4191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908C6E-0357-725F-0B27-9CE2DDC06611}"/>
              </a:ext>
            </a:extLst>
          </p:cNvPr>
          <p:cNvSpPr txBox="1"/>
          <p:nvPr/>
        </p:nvSpPr>
        <p:spPr>
          <a:xfrm>
            <a:off x="952500" y="2476500"/>
            <a:ext cx="2108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OpenMP IME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E0E9F6-41E3-4645-6736-880F4C5E2D1C}"/>
              </a:ext>
            </a:extLst>
          </p:cNvPr>
          <p:cNvSpPr/>
          <p:nvPr/>
        </p:nvSpPr>
        <p:spPr>
          <a:xfrm>
            <a:off x="3149600" y="2425700"/>
            <a:ext cx="3810000" cy="4191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A1A6CC-4EAF-BD8A-A601-703CC712435D}"/>
              </a:ext>
            </a:extLst>
          </p:cNvPr>
          <p:cNvSpPr txBox="1"/>
          <p:nvPr/>
        </p:nvSpPr>
        <p:spPr>
          <a:xfrm>
            <a:off x="3238500" y="2476500"/>
            <a:ext cx="3632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IME-capable cores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6F626CA-3135-DE98-EB91-EE414D8E39DE}"/>
              </a:ext>
            </a:extLst>
          </p:cNvPr>
          <p:cNvSpPr/>
          <p:nvPr/>
        </p:nvSpPr>
        <p:spPr>
          <a:xfrm>
            <a:off x="6959600" y="2425700"/>
            <a:ext cx="4508500" cy="419100"/>
          </a:xfrm>
          <a:prstGeom prst="rect">
            <a:avLst/>
          </a:prstGeom>
          <a:solidFill>
            <a:srgbClr val="FFFFFF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A195F0-6D32-A930-7E54-6028B032D755}"/>
              </a:ext>
            </a:extLst>
          </p:cNvPr>
          <p:cNvSpPr txBox="1"/>
          <p:nvPr/>
        </p:nvSpPr>
        <p:spPr>
          <a:xfrm>
            <a:off x="7048500" y="2476500"/>
            <a:ext cx="43307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IME-domain throughput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0DF584-5E34-522F-B581-FBAB452DC4E5}"/>
              </a:ext>
            </a:extLst>
          </p:cNvPr>
          <p:cNvSpPr/>
          <p:nvPr/>
        </p:nvSpPr>
        <p:spPr>
          <a:xfrm>
            <a:off x="863600" y="2844800"/>
            <a:ext cx="2286000" cy="419100"/>
          </a:xfrm>
          <a:prstGeom prst="rect">
            <a:avLst/>
          </a:prstGeom>
          <a:solidFill>
            <a:srgbClr val="F8FAFC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AEC97B-21E0-F370-53DD-81E999264C8D}"/>
              </a:ext>
            </a:extLst>
          </p:cNvPr>
          <p:cNvSpPr txBox="1"/>
          <p:nvPr/>
        </p:nvSpPr>
        <p:spPr>
          <a:xfrm>
            <a:off x="952500" y="2895600"/>
            <a:ext cx="2108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Mixed RVV+IME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DF9F50-7F75-C8DC-FBB7-7B5BCDCDC463}"/>
              </a:ext>
            </a:extLst>
          </p:cNvPr>
          <p:cNvSpPr/>
          <p:nvPr/>
        </p:nvSpPr>
        <p:spPr>
          <a:xfrm>
            <a:off x="3149600" y="2844800"/>
            <a:ext cx="3810000" cy="419100"/>
          </a:xfrm>
          <a:prstGeom prst="rect">
            <a:avLst/>
          </a:prstGeom>
          <a:solidFill>
            <a:srgbClr val="F8FAFC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4781DB-59E2-DB79-E107-4EC4026000C3}"/>
              </a:ext>
            </a:extLst>
          </p:cNvPr>
          <p:cNvSpPr txBox="1"/>
          <p:nvPr/>
        </p:nvSpPr>
        <p:spPr>
          <a:xfrm>
            <a:off x="3238500" y="2895600"/>
            <a:ext cx="36322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cores 0-7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B685AD7-9CC3-4A88-AB93-67585F259619}"/>
              </a:ext>
            </a:extLst>
          </p:cNvPr>
          <p:cNvSpPr/>
          <p:nvPr/>
        </p:nvSpPr>
        <p:spPr>
          <a:xfrm>
            <a:off x="6959600" y="2844800"/>
            <a:ext cx="4508500" cy="419100"/>
          </a:xfrm>
          <a:prstGeom prst="rect">
            <a:avLst/>
          </a:prstGeom>
          <a:solidFill>
            <a:srgbClr val="F8FAFC"/>
          </a:solidFill>
          <a:ln w="4445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C41A75-D019-BBC5-3D3F-3D0D3979B67C}"/>
              </a:ext>
            </a:extLst>
          </p:cNvPr>
          <p:cNvSpPr txBox="1"/>
          <p:nvPr/>
        </p:nvSpPr>
        <p:spPr>
          <a:xfrm>
            <a:off x="7048500" y="2895600"/>
            <a:ext cx="4330700" cy="1574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690">
                <a:solidFill>
                  <a:srgbClr val="334155"/>
                </a:solidFill>
                <a:latin typeface="Aptos" panose="020B0004020202020204" pitchFamily="34" charset="0"/>
              </a:rPr>
              <a:t>heterogeneous full-board throughput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83B235-C203-AFC8-FE6F-145E33E93185}"/>
              </a:ext>
            </a:extLst>
          </p:cNvPr>
          <p:cNvSpPr/>
          <p:nvPr/>
        </p:nvSpPr>
        <p:spPr>
          <a:xfrm>
            <a:off x="1143000" y="3835400"/>
            <a:ext cx="2921000" cy="10414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BAA12EB-5B21-8585-73AE-A67AB76FC0DC}"/>
              </a:ext>
            </a:extLst>
          </p:cNvPr>
          <p:cNvSpPr/>
          <p:nvPr/>
        </p:nvSpPr>
        <p:spPr>
          <a:xfrm>
            <a:off x="1143000" y="3835400"/>
            <a:ext cx="50800" cy="1041400"/>
          </a:xfrm>
          <a:prstGeom prst="rect">
            <a:avLst/>
          </a:prstGeom>
          <a:solidFill>
            <a:srgbClr val="0A66C2"/>
          </a:solidFill>
          <a:ln w="0">
            <a:solidFill>
              <a:srgbClr val="0A66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E25C39-044F-6136-C31A-CC56FA5A215D}"/>
              </a:ext>
            </a:extLst>
          </p:cNvPr>
          <p:cNvSpPr txBox="1"/>
          <p:nvPr/>
        </p:nvSpPr>
        <p:spPr>
          <a:xfrm>
            <a:off x="1308100" y="3962400"/>
            <a:ext cx="26416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50" b="1">
                <a:solidFill>
                  <a:srgbClr val="0A66C2"/>
                </a:solidFill>
                <a:latin typeface="Aptos" panose="020B0004020202020204" pitchFamily="34" charset="0"/>
              </a:rPr>
              <a:t>Metrics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DB2892-6E4B-7453-BB71-B4C6477B0779}"/>
              </a:ext>
            </a:extLst>
          </p:cNvPr>
          <p:cNvSpPr txBox="1"/>
          <p:nvPr/>
        </p:nvSpPr>
        <p:spPr>
          <a:xfrm>
            <a:off x="1308100" y="4216400"/>
            <a:ext cx="2641600" cy="434478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30">
                <a:solidFill>
                  <a:srgbClr val="334155"/>
                </a:solidFill>
                <a:latin typeface="Aptos" panose="020B0004020202020204" pitchFamily="34" charset="0"/>
              </a:rPr>
              <a:t>time_sec
GFLOPS for FP32/FP64
GOPS for INT8 RVV/IME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9F27B8-6B09-64A2-8B99-691876F5ACC0}"/>
              </a:ext>
            </a:extLst>
          </p:cNvPr>
          <p:cNvSpPr/>
          <p:nvPr/>
        </p:nvSpPr>
        <p:spPr>
          <a:xfrm>
            <a:off x="4635500" y="3835400"/>
            <a:ext cx="2921000" cy="10414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5BF90C9-A002-12DA-6997-A3535219F05D}"/>
              </a:ext>
            </a:extLst>
          </p:cNvPr>
          <p:cNvSpPr/>
          <p:nvPr/>
        </p:nvSpPr>
        <p:spPr>
          <a:xfrm>
            <a:off x="4635500" y="3835400"/>
            <a:ext cx="50800" cy="1041400"/>
          </a:xfrm>
          <a:prstGeom prst="rect">
            <a:avLst/>
          </a:prstGeom>
          <a:solidFill>
            <a:srgbClr val="15803D"/>
          </a:solidFill>
          <a:ln w="0">
            <a:solidFill>
              <a:srgbClr val="1580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543DD0-ECEB-CB80-5E56-CF54F2D41B4B}"/>
              </a:ext>
            </a:extLst>
          </p:cNvPr>
          <p:cNvSpPr txBox="1"/>
          <p:nvPr/>
        </p:nvSpPr>
        <p:spPr>
          <a:xfrm>
            <a:off x="4800600" y="3962400"/>
            <a:ext cx="26416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50" b="1">
                <a:solidFill>
                  <a:srgbClr val="15803D"/>
                </a:solidFill>
                <a:latin typeface="Aptos" panose="020B0004020202020204" pitchFamily="34" charset="0"/>
              </a:rPr>
              <a:t>Statistics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B88493-077C-D68D-6894-4DE2F89B65BB}"/>
              </a:ext>
            </a:extLst>
          </p:cNvPr>
          <p:cNvSpPr txBox="1"/>
          <p:nvPr/>
        </p:nvSpPr>
        <p:spPr>
          <a:xfrm>
            <a:off x="4800600" y="4216400"/>
            <a:ext cx="2641600" cy="434478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30">
                <a:solidFill>
                  <a:srgbClr val="334155"/>
                </a:solidFill>
                <a:latin typeface="Aptos" panose="020B0004020202020204" pitchFamily="34" charset="0"/>
              </a:rPr>
              <a:t>mean, median, standard deviation
best kernel per family
per-mode comparison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A577F29-86CE-8B12-59AB-42A7B0717B61}"/>
              </a:ext>
            </a:extLst>
          </p:cNvPr>
          <p:cNvSpPr/>
          <p:nvPr/>
        </p:nvSpPr>
        <p:spPr>
          <a:xfrm>
            <a:off x="8128000" y="3835400"/>
            <a:ext cx="2921000" cy="10414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4BE0849-4D1A-CA1B-C913-5C53664B9B5C}"/>
              </a:ext>
            </a:extLst>
          </p:cNvPr>
          <p:cNvSpPr/>
          <p:nvPr/>
        </p:nvSpPr>
        <p:spPr>
          <a:xfrm>
            <a:off x="8128000" y="3835400"/>
            <a:ext cx="50800" cy="1041400"/>
          </a:xfrm>
          <a:prstGeom prst="rect">
            <a:avLst/>
          </a:prstGeom>
          <a:solidFill>
            <a:srgbClr val="C2410C"/>
          </a:solidFill>
          <a:ln w="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00099F-8F08-729C-4E4D-2650B3157040}"/>
              </a:ext>
            </a:extLst>
          </p:cNvPr>
          <p:cNvSpPr txBox="1"/>
          <p:nvPr/>
        </p:nvSpPr>
        <p:spPr>
          <a:xfrm>
            <a:off x="8293100" y="3962400"/>
            <a:ext cx="2641600" cy="182101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50" b="1">
                <a:solidFill>
                  <a:srgbClr val="C2410C"/>
                </a:solidFill>
                <a:latin typeface="Aptos" panose="020B0004020202020204" pitchFamily="34" charset="0"/>
              </a:rPr>
              <a:t>Files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9C57334-4498-C76E-EB37-C2500CFD346C}"/>
              </a:ext>
            </a:extLst>
          </p:cNvPr>
          <p:cNvSpPr txBox="1"/>
          <p:nvPr/>
        </p:nvSpPr>
        <p:spPr>
          <a:xfrm>
            <a:off x="8293100" y="4216400"/>
            <a:ext cx="2641600" cy="434478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30">
                <a:solidFill>
                  <a:srgbClr val="334155"/>
                </a:solidFill>
                <a:latin typeface="Aptos" panose="020B0004020202020204" pitchFamily="34" charset="0"/>
              </a:rPr>
              <a:t>live_latest.log
raw_latest.csv
summary_latest.csv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D341BDB-55AE-86F9-36CF-3C7D109F5CD9}"/>
              </a:ext>
            </a:extLst>
          </p:cNvPr>
          <p:cNvSpPr/>
          <p:nvPr/>
        </p:nvSpPr>
        <p:spPr>
          <a:xfrm>
            <a:off x="1397000" y="5461000"/>
            <a:ext cx="9398000" cy="635000"/>
          </a:xfrm>
          <a:prstGeom prst="rect">
            <a:avLst/>
          </a:prstGeom>
          <a:solidFill>
            <a:srgbClr val="F8FAFC"/>
          </a:solidFill>
          <a:ln w="10160">
            <a:solidFill>
              <a:srgbClr val="D6DE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6E7398-E411-2EA3-9116-E148728731D7}"/>
              </a:ext>
            </a:extLst>
          </p:cNvPr>
          <p:cNvSpPr txBox="1"/>
          <p:nvPr/>
        </p:nvSpPr>
        <p:spPr>
          <a:xfrm>
            <a:off x="1651000" y="5626100"/>
            <a:ext cx="1651000" cy="185179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870" b="1">
                <a:solidFill>
                  <a:srgbClr val="0A66C2"/>
                </a:solidFill>
                <a:latin typeface="Aptos" panose="020B0004020202020204" pitchFamily="34" charset="0"/>
              </a:rPr>
              <a:t>Scientific purpose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82DE799-0C35-D19D-FB71-BECC440EE582}"/>
              </a:ext>
            </a:extLst>
          </p:cNvPr>
          <p:cNvSpPr txBox="1"/>
          <p:nvPr/>
        </p:nvSpPr>
        <p:spPr>
          <a:xfrm>
            <a:off x="3302000" y="5575300"/>
            <a:ext cx="7112000" cy="383695"/>
          </a:xfrm>
          <a:prstGeom prst="rect">
            <a:avLst/>
          </a:prstGeom>
          <a:noFill/>
        </p:spPr>
        <p:txBody>
          <a:bodyPr vert="horz" lIns="63500" tIns="25400" rIns="63500" bIns="25400" rtlCol="0">
            <a:spAutoFit/>
          </a:bodyPr>
          <a:lstStyle/>
          <a:p>
            <a:r>
              <a:rPr lang="en-US" sz="1080" b="1">
                <a:solidFill>
                  <a:srgbClr val="111827"/>
                </a:solidFill>
                <a:latin typeface="Aptos" panose="020B0004020202020204" pitchFamily="34" charset="0"/>
              </a:rPr>
              <a:t>Show how optimized ZVL256 RVV/IME kernels move from isolated execution to cooperative heterogeneous OpenMP GEMM.</a:t>
            </a:r>
          </a:p>
        </p:txBody>
      </p:sp>
    </p:spTree>
    <p:extLst>
      <p:ext uri="{BB962C8B-B14F-4D97-AF65-F5344CB8AC3E}">
        <p14:creationId xmlns:p14="http://schemas.microsoft.com/office/powerpoint/2010/main" val="210575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633</Words>
  <Application>Microsoft Office PowerPoint</Application>
  <PresentationFormat>Custom</PresentationFormat>
  <Paragraphs>108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Babar HUSSAIN</dc:creator>
  <cp:lastModifiedBy>Babar HUSSAIN</cp:lastModifiedBy>
  <cp:revision>1</cp:revision>
  <dcterms:created xsi:type="dcterms:W3CDTF">2026-07-10T11:35:37Z</dcterms:created>
  <dcterms:modified xsi:type="dcterms:W3CDTF">2026-07-10T11:35:37Z</dcterms:modified>
</cp:coreProperties>
</file>